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6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9/10/2025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9/10/2025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9/10/2025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9/10/2025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9/10/2025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gi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9.sv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jpeg"/><Relationship Id="rId2" Type="http://schemas.openxmlformats.org/officeDocument/2006/relationships/image" Target="../media/image8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hyperlink" Target="https://www.epa.gov/greenvehicles/greenhouse-gas-emissions-typical-passenger-vehicle" TargetMode="External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54955" y="3744828"/>
            <a:ext cx="4659249" cy="1032553"/>
          </a:xfrm>
        </p:spPr>
        <p:txBody>
          <a:bodyPr/>
          <a:lstStyle/>
          <a:p>
            <a:r>
              <a:rPr lang="fr-FR" sz="6000" dirty="0">
                <a:latin typeface="Algerian" panose="04020705040A02060702" pitchFamily="82" charset="0"/>
              </a:rPr>
              <a:t>BARTH-X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54954" y="4777379"/>
            <a:ext cx="10903161" cy="1794337"/>
          </a:xfrm>
        </p:spPr>
        <p:txBody>
          <a:bodyPr>
            <a:normAutofit/>
          </a:bodyPr>
          <a:lstStyle/>
          <a:p>
            <a:r>
              <a:rPr lang="fr-FR" sz="2600" dirty="0">
                <a:solidFill>
                  <a:schemeClr val="tx1"/>
                </a:solidFill>
                <a:latin typeface="Century Schoolbook" panose="02040604050505020304" pitchFamily="18" charset="0"/>
              </a:rPr>
              <a:t>SUBSTRAT FILTRANT: </a:t>
            </a:r>
            <a:r>
              <a:rPr lang="fr-FR" sz="2600" b="1" dirty="0">
                <a:solidFill>
                  <a:schemeClr val="tx1"/>
                </a:solidFill>
                <a:latin typeface="Century Schoolbook" panose="02040604050505020304" pitchFamily="18" charset="0"/>
              </a:rPr>
              <a:t>REDUCTION</a:t>
            </a:r>
          </a:p>
          <a:p>
            <a:r>
              <a:rPr lang="fr-FR" sz="2600" b="1" dirty="0">
                <a:solidFill>
                  <a:schemeClr val="tx1"/>
                </a:solidFill>
                <a:latin typeface="Century Schoolbook" panose="02040604050505020304" pitchFamily="18" charset="0"/>
              </a:rPr>
              <a:t>DE CO2 DANS LES GAZ D’ECHAPPEMENT       </a:t>
            </a:r>
            <a:endParaRPr lang="fr-FR" dirty="0">
              <a:solidFill>
                <a:schemeClr val="tx1"/>
              </a:solidFill>
              <a:latin typeface="Lucida Handwriting" panose="03010101010101010101" pitchFamily="66" charset="0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97" y="424011"/>
            <a:ext cx="3688948" cy="925975"/>
          </a:xfrm>
          <a:prstGeom prst="rect">
            <a:avLst/>
          </a:prstGeom>
          <a:effectLst>
            <a:innerShdw blurRad="63500" dist="508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</p:pic>
      <p:sp>
        <p:nvSpPr>
          <p:cNvPr id="5" name="ZoneTexte 4"/>
          <p:cNvSpPr txBox="1"/>
          <p:nvPr/>
        </p:nvSpPr>
        <p:spPr>
          <a:xfrm>
            <a:off x="1034182" y="5812591"/>
            <a:ext cx="46678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I" dirty="0">
                <a:latin typeface="Century Schoolbook" panose="02040604050505020304" pitchFamily="18" charset="0"/>
              </a:rPr>
              <a:t>                    </a:t>
            </a:r>
            <a:r>
              <a:rPr lang="fr-CI" b="1" u="sng" dirty="0">
                <a:latin typeface="Century Schoolbook" panose="02040604050505020304" pitchFamily="18" charset="0"/>
              </a:rPr>
              <a:t>PAR</a:t>
            </a:r>
            <a:r>
              <a:rPr lang="fr-CI" dirty="0">
                <a:latin typeface="Century Schoolbook" panose="02040604050505020304" pitchFamily="18" charset="0"/>
              </a:rPr>
              <a:t> :  </a:t>
            </a:r>
          </a:p>
          <a:p>
            <a:r>
              <a:rPr lang="fr-CI" dirty="0">
                <a:latin typeface="Century Schoolbook" panose="02040604050505020304" pitchFamily="18" charset="0"/>
              </a:rPr>
              <a:t>                                                        </a:t>
            </a:r>
            <a:r>
              <a:rPr lang="fr-CI" dirty="0">
                <a:latin typeface="Lucida Handwriting" panose="03010101010101010101" pitchFamily="66" charset="0"/>
              </a:rPr>
              <a:t>TOKALO BI TOKALO ARMEL</a:t>
            </a:r>
            <a:endParaRPr lang="fr-FR" dirty="0">
              <a:latin typeface="Lucida Handwriting" panose="03010101010101010101" pitchFamily="66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2896689" y="2947063"/>
            <a:ext cx="78719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I" sz="4000" b="1" dirty="0">
                <a:latin typeface="Century Schoolbook" panose="02040604050505020304" pitchFamily="18" charset="0"/>
              </a:rPr>
              <a:t>POURQUOI CONTINUER ?</a:t>
            </a:r>
            <a:endParaRPr lang="fr-FR" sz="4000" b="1" dirty="0">
              <a:latin typeface="Century Schoolbook" panose="02040604050505020304" pitchFamily="18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F918B0A-76E7-4649-A128-14B458CF1E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9137" y="149697"/>
            <a:ext cx="4236128" cy="2382822"/>
          </a:xfrm>
          <a:prstGeom prst="roundRect">
            <a:avLst>
              <a:gd name="adj" fmla="val 5000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898495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2043" y="597836"/>
            <a:ext cx="10187913" cy="6145864"/>
            <a:chOff x="0" y="0"/>
            <a:chExt cx="3588460" cy="21524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88460" cy="2152415"/>
            </a:xfrm>
            <a:custGeom>
              <a:avLst/>
              <a:gdLst/>
              <a:ahLst/>
              <a:cxnLst/>
              <a:rect l="l" t="t" r="r" b="b"/>
              <a:pathLst>
                <a:path w="3588460" h="2152415">
                  <a:moveTo>
                    <a:pt x="13531" y="0"/>
                  </a:moveTo>
                  <a:lnTo>
                    <a:pt x="3574929" y="0"/>
                  </a:lnTo>
                  <a:cubicBezTo>
                    <a:pt x="3578518" y="0"/>
                    <a:pt x="3581959" y="1426"/>
                    <a:pt x="3584497" y="3963"/>
                  </a:cubicBezTo>
                  <a:cubicBezTo>
                    <a:pt x="3587034" y="6501"/>
                    <a:pt x="3588460" y="9942"/>
                    <a:pt x="3588460" y="13531"/>
                  </a:cubicBezTo>
                  <a:lnTo>
                    <a:pt x="3588460" y="2138885"/>
                  </a:lnTo>
                  <a:cubicBezTo>
                    <a:pt x="3588460" y="2146357"/>
                    <a:pt x="3582402" y="2152415"/>
                    <a:pt x="3574929" y="2152415"/>
                  </a:cubicBezTo>
                  <a:lnTo>
                    <a:pt x="13531" y="2152415"/>
                  </a:lnTo>
                  <a:cubicBezTo>
                    <a:pt x="6058" y="2152415"/>
                    <a:pt x="0" y="2146357"/>
                    <a:pt x="0" y="2138885"/>
                  </a:cubicBezTo>
                  <a:lnTo>
                    <a:pt x="0" y="13531"/>
                  </a:lnTo>
                  <a:cubicBezTo>
                    <a:pt x="0" y="6058"/>
                    <a:pt x="6058" y="0"/>
                    <a:pt x="1353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3B393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588460" cy="2190515"/>
            </a:xfrm>
            <a:prstGeom prst="rect">
              <a:avLst/>
            </a:prstGeom>
          </p:spPr>
          <p:txBody>
            <a:bodyPr lIns="23052" tIns="23052" rIns="23052" bIns="23052" rtlCol="0" anchor="ctr"/>
            <a:lstStyle/>
            <a:p>
              <a:pPr algn="ctr">
                <a:lnSpc>
                  <a:spcPts val="2130"/>
                </a:lnSpc>
              </a:pPr>
              <a:endParaRPr sz="817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34428" y="726914"/>
            <a:ext cx="2553652" cy="1779753"/>
            <a:chOff x="0" y="0"/>
            <a:chExt cx="6918119" cy="5229398"/>
          </a:xfrm>
        </p:grpSpPr>
        <p:grpSp>
          <p:nvGrpSpPr>
            <p:cNvPr id="6" name="Group 6"/>
            <p:cNvGrpSpPr/>
            <p:nvPr/>
          </p:nvGrpSpPr>
          <p:grpSpPr>
            <a:xfrm>
              <a:off x="733613" y="0"/>
              <a:ext cx="5090359" cy="1105826"/>
              <a:chOff x="0" y="0"/>
              <a:chExt cx="1468532" cy="31902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468532" cy="319023"/>
              </a:xfrm>
              <a:custGeom>
                <a:avLst/>
                <a:gdLst/>
                <a:ahLst/>
                <a:cxnLst/>
                <a:rect l="l" t="t" r="r" b="b"/>
                <a:pathLst>
                  <a:path w="1468532" h="319023">
                    <a:moveTo>
                      <a:pt x="142238" y="0"/>
                    </a:moveTo>
                    <a:lnTo>
                      <a:pt x="1326294" y="0"/>
                    </a:lnTo>
                    <a:cubicBezTo>
                      <a:pt x="1364018" y="0"/>
                      <a:pt x="1400197" y="14986"/>
                      <a:pt x="1426872" y="41661"/>
                    </a:cubicBezTo>
                    <a:cubicBezTo>
                      <a:pt x="1453547" y="68335"/>
                      <a:pt x="1468532" y="104514"/>
                      <a:pt x="1468532" y="142238"/>
                    </a:cubicBezTo>
                    <a:lnTo>
                      <a:pt x="1468532" y="176785"/>
                    </a:lnTo>
                    <a:cubicBezTo>
                      <a:pt x="1468532" y="214509"/>
                      <a:pt x="1453547" y="250688"/>
                      <a:pt x="1426872" y="277362"/>
                    </a:cubicBezTo>
                    <a:cubicBezTo>
                      <a:pt x="1400197" y="304037"/>
                      <a:pt x="1364018" y="319023"/>
                      <a:pt x="1326294" y="319023"/>
                    </a:cubicBezTo>
                    <a:lnTo>
                      <a:pt x="142238" y="319023"/>
                    </a:lnTo>
                    <a:cubicBezTo>
                      <a:pt x="104514" y="319023"/>
                      <a:pt x="68335" y="304037"/>
                      <a:pt x="41661" y="277362"/>
                    </a:cubicBezTo>
                    <a:cubicBezTo>
                      <a:pt x="14986" y="250688"/>
                      <a:pt x="0" y="214509"/>
                      <a:pt x="0" y="176785"/>
                    </a:cubicBezTo>
                    <a:lnTo>
                      <a:pt x="0" y="142238"/>
                    </a:lnTo>
                    <a:cubicBezTo>
                      <a:pt x="0" y="104514"/>
                      <a:pt x="14986" y="68335"/>
                      <a:pt x="41661" y="41661"/>
                    </a:cubicBezTo>
                    <a:cubicBezTo>
                      <a:pt x="68335" y="14986"/>
                      <a:pt x="104514" y="0"/>
                      <a:pt x="142238" y="0"/>
                    </a:cubicBezTo>
                    <a:close/>
                  </a:path>
                </a:pathLst>
              </a:custGeom>
              <a:solidFill>
                <a:srgbClr val="B1D8B7"/>
              </a:solidFill>
              <a:ln w="28575" cap="rnd">
                <a:solidFill>
                  <a:srgbClr val="3B393F"/>
                </a:solidFill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9525"/>
                <a:ext cx="1468532" cy="328548"/>
              </a:xfrm>
              <a:prstGeom prst="rect">
                <a:avLst/>
              </a:prstGeom>
            </p:spPr>
            <p:txBody>
              <a:bodyPr lIns="12298" tIns="12298" rIns="12298" bIns="12298" rtlCol="0" anchor="ctr"/>
              <a:lstStyle/>
              <a:p>
                <a:pPr>
                  <a:lnSpc>
                    <a:spcPts val="1985"/>
                  </a:lnSpc>
                  <a:spcBef>
                    <a:spcPct val="0"/>
                  </a:spcBef>
                </a:pPr>
                <a:r>
                  <a:rPr lang="en-US" sz="1588" b="1">
                    <a:solidFill>
                      <a:srgbClr val="3B393F"/>
                    </a:solidFill>
                    <a:latin typeface="Garet Bold"/>
                    <a:ea typeface="Garet Bold"/>
                    <a:cs typeface="Garet Bold"/>
                    <a:sym typeface="Garet Bold"/>
                  </a:rPr>
                  <a:t>   </a:t>
                </a:r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054252" y="185270"/>
              <a:ext cx="4449078" cy="2805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94"/>
                </a:lnSpc>
              </a:pPr>
              <a:r>
                <a:rPr lang="en-US" sz="635" b="1">
                  <a:solidFill>
                    <a:srgbClr val="3B393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CONTEXTE 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0" y="1280921"/>
              <a:ext cx="6918119" cy="3948477"/>
              <a:chOff x="0" y="0"/>
              <a:chExt cx="929737" cy="53064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929737" cy="530642"/>
              </a:xfrm>
              <a:custGeom>
                <a:avLst/>
                <a:gdLst/>
                <a:ahLst/>
                <a:cxnLst/>
                <a:rect l="l" t="t" r="r" b="b"/>
                <a:pathLst>
                  <a:path w="929737" h="530642">
                    <a:moveTo>
                      <a:pt x="44854" y="0"/>
                    </a:moveTo>
                    <a:lnTo>
                      <a:pt x="884883" y="0"/>
                    </a:lnTo>
                    <a:cubicBezTo>
                      <a:pt x="909655" y="0"/>
                      <a:pt x="929737" y="20082"/>
                      <a:pt x="929737" y="44854"/>
                    </a:cubicBezTo>
                    <a:lnTo>
                      <a:pt x="929737" y="485788"/>
                    </a:lnTo>
                    <a:cubicBezTo>
                      <a:pt x="929737" y="510560"/>
                      <a:pt x="909655" y="530642"/>
                      <a:pt x="884883" y="530642"/>
                    </a:cubicBezTo>
                    <a:lnTo>
                      <a:pt x="44854" y="530642"/>
                    </a:lnTo>
                    <a:cubicBezTo>
                      <a:pt x="20082" y="530642"/>
                      <a:pt x="0" y="510560"/>
                      <a:pt x="0" y="485788"/>
                    </a:cubicBezTo>
                    <a:lnTo>
                      <a:pt x="0" y="44854"/>
                    </a:lnTo>
                    <a:cubicBezTo>
                      <a:pt x="0" y="20082"/>
                      <a:pt x="20082" y="0"/>
                      <a:pt x="44854" y="0"/>
                    </a:cubicBezTo>
                    <a:close/>
                  </a:path>
                </a:pathLst>
              </a:custGeom>
              <a:solidFill>
                <a:srgbClr val="D2F4D8"/>
              </a:solidFill>
              <a:ln w="28575" cap="rnd">
                <a:solidFill>
                  <a:srgbClr val="3B393F"/>
                </a:solidFill>
                <a:prstDash val="solid"/>
                <a:round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929737" cy="568742"/>
              </a:xfrm>
              <a:prstGeom prst="rect">
                <a:avLst/>
              </a:prstGeom>
            </p:spPr>
            <p:txBody>
              <a:bodyPr lIns="23005" tIns="23005" rIns="23005" bIns="23005" rtlCol="0" anchor="ctr"/>
              <a:lstStyle/>
              <a:p>
                <a:pPr algn="ctr">
                  <a:lnSpc>
                    <a:spcPts val="2130"/>
                  </a:lnSpc>
                  <a:spcBef>
                    <a:spcPct val="0"/>
                  </a:spcBef>
                </a:pPr>
                <a:endParaRPr sz="817"/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235830" y="1470887"/>
              <a:ext cx="3016560" cy="2177408"/>
            </a:xfrm>
            <a:custGeom>
              <a:avLst/>
              <a:gdLst/>
              <a:ahLst/>
              <a:cxnLst/>
              <a:rect l="l" t="t" r="r" b="b"/>
              <a:pathLst>
                <a:path w="3016560" h="2177408">
                  <a:moveTo>
                    <a:pt x="0" y="0"/>
                  </a:moveTo>
                  <a:lnTo>
                    <a:pt x="3016560" y="0"/>
                  </a:lnTo>
                  <a:lnTo>
                    <a:pt x="3016560" y="2177408"/>
                  </a:lnTo>
                  <a:lnTo>
                    <a:pt x="0" y="2177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543027" y="3702269"/>
              <a:ext cx="6067194" cy="1184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794"/>
                </a:lnSpc>
              </a:pPr>
              <a:r>
                <a:rPr lang="en-US" sz="635" dirty="0">
                  <a:solidFill>
                    <a:schemeClr val="bg1"/>
                  </a:solidFill>
                  <a:latin typeface="Garet"/>
                  <a:ea typeface="Garet"/>
                  <a:cs typeface="Garet"/>
                  <a:sym typeface="Garet"/>
                </a:rPr>
                <a:t>Le diesel, </a:t>
              </a:r>
              <a:r>
                <a:rPr lang="en-US" sz="635" dirty="0" err="1">
                  <a:solidFill>
                    <a:schemeClr val="bg1"/>
                  </a:solidFill>
                  <a:latin typeface="Garet"/>
                  <a:ea typeface="Garet"/>
                  <a:cs typeface="Garet"/>
                  <a:sym typeface="Garet"/>
                </a:rPr>
                <a:t>l'essence</a:t>
              </a:r>
              <a:r>
                <a:rPr lang="en-US" sz="635" dirty="0">
                  <a:solidFill>
                    <a:schemeClr val="bg1"/>
                  </a:solidFill>
                  <a:latin typeface="Garet"/>
                  <a:ea typeface="Garet"/>
                  <a:cs typeface="Garet"/>
                  <a:sym typeface="Garet"/>
                </a:rPr>
                <a:t> et le transport </a:t>
              </a:r>
              <a:r>
                <a:rPr lang="en-US" sz="635" dirty="0" err="1">
                  <a:solidFill>
                    <a:schemeClr val="bg1"/>
                  </a:solidFill>
                  <a:latin typeface="Garet"/>
                  <a:ea typeface="Garet"/>
                  <a:cs typeface="Garet"/>
                  <a:sym typeface="Garet"/>
                </a:rPr>
                <a:t>en</a:t>
              </a:r>
              <a:r>
                <a:rPr lang="en-US" sz="635" dirty="0">
                  <a:solidFill>
                    <a:schemeClr val="bg1"/>
                  </a:solidFill>
                  <a:latin typeface="Garet"/>
                  <a:ea typeface="Garet"/>
                  <a:cs typeface="Garet"/>
                  <a:sym typeface="Garet"/>
                </a:rPr>
                <a:t> </a:t>
              </a:r>
              <a:r>
                <a:rPr lang="en-US" sz="635" dirty="0" err="1">
                  <a:solidFill>
                    <a:schemeClr val="bg1"/>
                  </a:solidFill>
                  <a:latin typeface="Garet"/>
                  <a:ea typeface="Garet"/>
                  <a:cs typeface="Garet"/>
                  <a:sym typeface="Garet"/>
                </a:rPr>
                <a:t>générale</a:t>
              </a:r>
              <a:r>
                <a:rPr lang="en-US" sz="635" dirty="0">
                  <a:solidFill>
                    <a:schemeClr val="bg1"/>
                  </a:solidFill>
                  <a:latin typeface="Garet"/>
                  <a:ea typeface="Garet"/>
                  <a:cs typeface="Garet"/>
                  <a:sym typeface="Garet"/>
                </a:rPr>
                <a:t> </a:t>
              </a:r>
              <a:r>
                <a:rPr lang="en-US" sz="635" dirty="0" err="1">
                  <a:solidFill>
                    <a:schemeClr val="bg1"/>
                  </a:solidFill>
                  <a:latin typeface="Garet"/>
                  <a:ea typeface="Garet"/>
                  <a:cs typeface="Garet"/>
                  <a:sym typeface="Garet"/>
                </a:rPr>
                <a:t>constitut</a:t>
              </a:r>
              <a:r>
                <a:rPr lang="en-US" sz="635" dirty="0">
                  <a:solidFill>
                    <a:schemeClr val="bg1"/>
                  </a:solidFill>
                  <a:latin typeface="Garet"/>
                  <a:ea typeface="Garet"/>
                  <a:cs typeface="Garet"/>
                  <a:sym typeface="Garet"/>
                </a:rPr>
                <a:t> </a:t>
              </a:r>
              <a:r>
                <a:rPr lang="en-US" sz="635" dirty="0" err="1">
                  <a:solidFill>
                    <a:schemeClr val="bg1"/>
                  </a:solidFill>
                  <a:latin typeface="Garet"/>
                  <a:ea typeface="Garet"/>
                  <a:cs typeface="Garet"/>
                  <a:sym typeface="Garet"/>
                </a:rPr>
                <a:t>l’un</a:t>
              </a:r>
              <a:r>
                <a:rPr lang="en-US" sz="635" dirty="0">
                  <a:solidFill>
                    <a:schemeClr val="bg1"/>
                  </a:solidFill>
                  <a:latin typeface="Garet"/>
                  <a:ea typeface="Garet"/>
                  <a:cs typeface="Garet"/>
                  <a:sym typeface="Garet"/>
                </a:rPr>
                <a:t> des </a:t>
              </a:r>
              <a:r>
                <a:rPr lang="en-US" sz="635" dirty="0" err="1">
                  <a:solidFill>
                    <a:schemeClr val="bg1"/>
                  </a:solidFill>
                  <a:latin typeface="Garet"/>
                  <a:ea typeface="Garet"/>
                  <a:cs typeface="Garet"/>
                  <a:sym typeface="Garet"/>
                </a:rPr>
                <a:t>facteurs</a:t>
              </a:r>
              <a:r>
                <a:rPr lang="en-US" sz="635" dirty="0">
                  <a:solidFill>
                    <a:schemeClr val="bg1"/>
                  </a:solidFill>
                  <a:latin typeface="Garet"/>
                  <a:ea typeface="Garet"/>
                  <a:cs typeface="Garet"/>
                  <a:sym typeface="Garet"/>
                </a:rPr>
                <a:t> </a:t>
              </a:r>
              <a:r>
                <a:rPr lang="en-US" sz="635" dirty="0" err="1">
                  <a:solidFill>
                    <a:schemeClr val="bg1"/>
                  </a:solidFill>
                  <a:latin typeface="Garet"/>
                  <a:ea typeface="Garet"/>
                  <a:cs typeface="Garet"/>
                  <a:sym typeface="Garet"/>
                </a:rPr>
                <a:t>majeurs</a:t>
              </a:r>
              <a:r>
                <a:rPr lang="en-US" sz="635" dirty="0">
                  <a:solidFill>
                    <a:schemeClr val="bg1"/>
                  </a:solidFill>
                  <a:latin typeface="Garet"/>
                  <a:ea typeface="Garet"/>
                  <a:cs typeface="Garet"/>
                  <a:sym typeface="Garet"/>
                </a:rPr>
                <a:t> du </a:t>
              </a:r>
              <a:r>
                <a:rPr lang="en-US" sz="635" dirty="0" err="1">
                  <a:solidFill>
                    <a:schemeClr val="bg1"/>
                  </a:solidFill>
                  <a:latin typeface="Garet"/>
                  <a:ea typeface="Garet"/>
                  <a:cs typeface="Garet"/>
                  <a:sym typeface="Garet"/>
                </a:rPr>
                <a:t>réchauffement</a:t>
              </a:r>
              <a:r>
                <a:rPr lang="en-US" sz="635" dirty="0">
                  <a:solidFill>
                    <a:schemeClr val="bg1"/>
                  </a:solidFill>
                  <a:latin typeface="Garet"/>
                  <a:ea typeface="Garet"/>
                  <a:cs typeface="Garet"/>
                  <a:sym typeface="Garet"/>
                </a:rPr>
                <a:t> </a:t>
              </a:r>
              <a:r>
                <a:rPr lang="en-US" sz="635" dirty="0" err="1">
                  <a:solidFill>
                    <a:schemeClr val="bg1"/>
                  </a:solidFill>
                  <a:latin typeface="Garet"/>
                  <a:ea typeface="Garet"/>
                  <a:cs typeface="Garet"/>
                  <a:sym typeface="Garet"/>
                </a:rPr>
                <a:t>climatique</a:t>
              </a:r>
              <a:r>
                <a:rPr lang="en-US" sz="635" dirty="0">
                  <a:solidFill>
                    <a:schemeClr val="bg1"/>
                  </a:solidFill>
                  <a:latin typeface="Garet"/>
                  <a:ea typeface="Garet"/>
                  <a:cs typeface="Garet"/>
                  <a:sym typeface="Garet"/>
                </a:rPr>
                <a:t> et de la pollution de </a:t>
              </a:r>
              <a:r>
                <a:rPr lang="en-US" sz="635" dirty="0" err="1">
                  <a:solidFill>
                    <a:schemeClr val="bg1"/>
                  </a:solidFill>
                  <a:latin typeface="Garet"/>
                  <a:ea typeface="Garet"/>
                  <a:cs typeface="Garet"/>
                  <a:sym typeface="Garet"/>
                </a:rPr>
                <a:t>l’air</a:t>
              </a:r>
              <a:r>
                <a:rPr lang="en-US" sz="635" dirty="0">
                  <a:solidFill>
                    <a:schemeClr val="bg1"/>
                  </a:solidFill>
                  <a:latin typeface="Garet"/>
                  <a:ea typeface="Garet"/>
                  <a:cs typeface="Garet"/>
                  <a:sym typeface="Garet"/>
                </a:rPr>
                <a:t> avec plus de </a:t>
              </a:r>
              <a:r>
                <a:rPr lang="en-US" sz="635" b="1" dirty="0">
                  <a:solidFill>
                    <a:schemeClr val="bg1"/>
                  </a:solidFill>
                  <a:latin typeface="Garet Bold"/>
                  <a:ea typeface="Garet Bold"/>
                  <a:cs typeface="Garet Bold"/>
                  <a:sym typeface="Garet Bold"/>
                </a:rPr>
                <a:t>14%</a:t>
              </a:r>
              <a:r>
                <a:rPr lang="en-US" sz="635" dirty="0">
                  <a:solidFill>
                    <a:schemeClr val="bg1"/>
                  </a:solidFill>
                  <a:latin typeface="Garet"/>
                  <a:ea typeface="Garet"/>
                  <a:cs typeface="Garet"/>
                  <a:sym typeface="Garet"/>
                </a:rPr>
                <a:t> </a:t>
              </a:r>
              <a:r>
                <a:rPr lang="en-US" sz="635" dirty="0" err="1">
                  <a:solidFill>
                    <a:schemeClr val="bg1"/>
                  </a:solidFill>
                  <a:latin typeface="Garet"/>
                  <a:ea typeface="Garet"/>
                  <a:cs typeface="Garet"/>
                  <a:sym typeface="Garet"/>
                </a:rPr>
                <a:t>d’émission</a:t>
              </a:r>
              <a:r>
                <a:rPr lang="en-US" sz="635" dirty="0">
                  <a:solidFill>
                    <a:schemeClr val="bg1"/>
                  </a:solidFill>
                  <a:latin typeface="Garet"/>
                  <a:ea typeface="Garet"/>
                  <a:cs typeface="Garet"/>
                  <a:sym typeface="Garet"/>
                </a:rPr>
                <a:t> </a:t>
              </a:r>
              <a:r>
                <a:rPr lang="en-US" sz="635" dirty="0" err="1">
                  <a:solidFill>
                    <a:schemeClr val="bg1"/>
                  </a:solidFill>
                  <a:latin typeface="Garet"/>
                  <a:ea typeface="Garet"/>
                  <a:cs typeface="Garet"/>
                  <a:sym typeface="Garet"/>
                </a:rPr>
                <a:t>en</a:t>
              </a:r>
              <a:r>
                <a:rPr lang="en-US" sz="635" dirty="0">
                  <a:solidFill>
                    <a:schemeClr val="bg1"/>
                  </a:solidFill>
                  <a:latin typeface="Garet"/>
                  <a:ea typeface="Garet"/>
                  <a:cs typeface="Garet"/>
                  <a:sym typeface="Garet"/>
                </a:rPr>
                <a:t> 2024. </a:t>
              </a:r>
            </a:p>
            <a:p>
              <a:pPr>
                <a:lnSpc>
                  <a:spcPts val="794"/>
                </a:lnSpc>
              </a:pPr>
              <a:endParaRPr lang="en-US" sz="635" dirty="0">
                <a:solidFill>
                  <a:srgbClr val="3B393F"/>
                </a:solidFill>
                <a:latin typeface="Garet"/>
                <a:ea typeface="Garet"/>
                <a:cs typeface="Garet"/>
                <a:sym typeface="Garet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702246" y="2381522"/>
              <a:ext cx="4160889" cy="105505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68583" lvl="1" indent="-34291" algn="ctr">
                <a:lnSpc>
                  <a:spcPts val="413"/>
                </a:lnSpc>
                <a:buFont typeface="Arial"/>
                <a:buChar char="•"/>
              </a:pPr>
              <a:r>
                <a:rPr lang="en-US" sz="400" dirty="0">
                  <a:solidFill>
                    <a:srgbClr val="000000"/>
                  </a:solidFill>
                  <a:latin typeface="Century Schoolbook" panose="02040604050505020304" pitchFamily="18" charset="0"/>
                  <a:ea typeface="Garet"/>
                  <a:cs typeface="Garet"/>
                  <a:sym typeface="Garet"/>
                </a:rPr>
                <a:t>Essence : La combustion d'un </a:t>
              </a:r>
              <a:r>
                <a:rPr lang="en-US" sz="400" dirty="0" err="1">
                  <a:solidFill>
                    <a:srgbClr val="000000"/>
                  </a:solidFill>
                  <a:latin typeface="Century Schoolbook" panose="02040604050505020304" pitchFamily="18" charset="0"/>
                  <a:ea typeface="Garet"/>
                  <a:cs typeface="Garet"/>
                  <a:sym typeface="Garet"/>
                </a:rPr>
                <a:t>litre</a:t>
              </a:r>
              <a:r>
                <a:rPr lang="en-US" sz="400" dirty="0">
                  <a:solidFill>
                    <a:srgbClr val="000000"/>
                  </a:solidFill>
                  <a:latin typeface="Century Schoolbook" panose="02040604050505020304" pitchFamily="18" charset="0"/>
                  <a:ea typeface="Garet"/>
                  <a:cs typeface="Garet"/>
                  <a:sym typeface="Garet"/>
                </a:rPr>
                <a:t> </a:t>
              </a:r>
            </a:p>
            <a:p>
              <a:pPr algn="ctr">
                <a:lnSpc>
                  <a:spcPts val="413"/>
                </a:lnSpc>
              </a:pPr>
              <a:r>
                <a:rPr lang="en-US" sz="400" dirty="0" err="1">
                  <a:solidFill>
                    <a:srgbClr val="000000"/>
                  </a:solidFill>
                  <a:latin typeface="Century Schoolbook" panose="02040604050505020304" pitchFamily="18" charset="0"/>
                  <a:ea typeface="Garet"/>
                  <a:cs typeface="Garet"/>
                  <a:sym typeface="Garet"/>
                </a:rPr>
                <a:t>d'essence</a:t>
              </a:r>
              <a:r>
                <a:rPr lang="en-US" sz="400" dirty="0">
                  <a:solidFill>
                    <a:srgbClr val="000000"/>
                  </a:solidFill>
                  <a:latin typeface="Century Schoolbook" panose="02040604050505020304" pitchFamily="18" charset="0"/>
                  <a:ea typeface="Garet"/>
                  <a:cs typeface="Garet"/>
                  <a:sym typeface="Garet"/>
                </a:rPr>
                <a:t> </a:t>
              </a:r>
              <a:r>
                <a:rPr lang="en-US" sz="400" dirty="0" err="1">
                  <a:solidFill>
                    <a:srgbClr val="000000"/>
                  </a:solidFill>
                  <a:latin typeface="Century Schoolbook" panose="02040604050505020304" pitchFamily="18" charset="0"/>
                  <a:ea typeface="Garet"/>
                  <a:cs typeface="Garet"/>
                  <a:sym typeface="Garet"/>
                </a:rPr>
                <a:t>produit</a:t>
              </a:r>
              <a:r>
                <a:rPr lang="en-US" sz="400" dirty="0">
                  <a:solidFill>
                    <a:srgbClr val="000000"/>
                  </a:solidFill>
                  <a:latin typeface="Century Schoolbook" panose="02040604050505020304" pitchFamily="18" charset="0"/>
                  <a:ea typeface="Garet"/>
                  <a:cs typeface="Garet"/>
                  <a:sym typeface="Garet"/>
                </a:rPr>
                <a:t> environ</a:t>
              </a:r>
              <a:r>
                <a:rPr lang="en-US" sz="400" b="1" dirty="0">
                  <a:solidFill>
                    <a:srgbClr val="000000"/>
                  </a:solidFill>
                  <a:latin typeface="Century Schoolbook" panose="02040604050505020304" pitchFamily="18" charset="0"/>
                  <a:ea typeface="Garet Bold"/>
                  <a:cs typeface="Garet Bold"/>
                  <a:sym typeface="Garet Bold"/>
                </a:rPr>
                <a:t> 2,3 kg</a:t>
              </a:r>
              <a:r>
                <a:rPr lang="en-US" sz="400" dirty="0">
                  <a:solidFill>
                    <a:srgbClr val="000000"/>
                  </a:solidFill>
                  <a:latin typeface="Century Schoolbook" panose="02040604050505020304" pitchFamily="18" charset="0"/>
                  <a:ea typeface="Garet"/>
                  <a:cs typeface="Garet"/>
                  <a:sym typeface="Garet"/>
                </a:rPr>
                <a:t> de CO2.</a:t>
              </a:r>
            </a:p>
            <a:p>
              <a:pPr marL="68583" lvl="1" indent="-34291" algn="ctr">
                <a:lnSpc>
                  <a:spcPts val="413"/>
                </a:lnSpc>
                <a:buFont typeface="Arial"/>
                <a:buChar char="•"/>
              </a:pPr>
              <a:r>
                <a:rPr lang="en-US" sz="400" dirty="0" err="1">
                  <a:solidFill>
                    <a:srgbClr val="000000"/>
                  </a:solidFill>
                  <a:latin typeface="Century Schoolbook" panose="02040604050505020304" pitchFamily="18" charset="0"/>
                  <a:ea typeface="Garet"/>
                  <a:cs typeface="Garet"/>
                  <a:sym typeface="Garet"/>
                </a:rPr>
                <a:t>Gazole</a:t>
              </a:r>
              <a:r>
                <a:rPr lang="en-US" sz="400" dirty="0">
                  <a:solidFill>
                    <a:srgbClr val="000000"/>
                  </a:solidFill>
                  <a:latin typeface="Century Schoolbook" panose="02040604050505020304" pitchFamily="18" charset="0"/>
                  <a:ea typeface="Garet"/>
                  <a:cs typeface="Garet"/>
                  <a:sym typeface="Garet"/>
                </a:rPr>
                <a:t> : Un </a:t>
              </a:r>
              <a:r>
                <a:rPr lang="en-US" sz="400" dirty="0" err="1">
                  <a:solidFill>
                    <a:srgbClr val="000000"/>
                  </a:solidFill>
                  <a:latin typeface="Century Schoolbook" panose="02040604050505020304" pitchFamily="18" charset="0"/>
                  <a:ea typeface="Garet"/>
                  <a:cs typeface="Garet"/>
                  <a:sym typeface="Garet"/>
                </a:rPr>
                <a:t>litre</a:t>
              </a:r>
              <a:r>
                <a:rPr lang="en-US" sz="400" dirty="0">
                  <a:solidFill>
                    <a:srgbClr val="000000"/>
                  </a:solidFill>
                  <a:latin typeface="Century Schoolbook" panose="02040604050505020304" pitchFamily="18" charset="0"/>
                  <a:ea typeface="Garet"/>
                  <a:cs typeface="Garet"/>
                  <a:sym typeface="Garet"/>
                </a:rPr>
                <a:t> de </a:t>
              </a:r>
              <a:r>
                <a:rPr lang="en-US" sz="400" dirty="0" err="1">
                  <a:solidFill>
                    <a:srgbClr val="000000"/>
                  </a:solidFill>
                  <a:latin typeface="Century Schoolbook" panose="02040604050505020304" pitchFamily="18" charset="0"/>
                  <a:ea typeface="Garet"/>
                  <a:cs typeface="Garet"/>
                  <a:sym typeface="Garet"/>
                </a:rPr>
                <a:t>gazole</a:t>
              </a:r>
              <a:r>
                <a:rPr lang="en-US" sz="400" dirty="0">
                  <a:solidFill>
                    <a:srgbClr val="000000"/>
                  </a:solidFill>
                  <a:latin typeface="Century Schoolbook" panose="02040604050505020304" pitchFamily="18" charset="0"/>
                  <a:ea typeface="Garet"/>
                  <a:cs typeface="Garet"/>
                  <a:sym typeface="Garet"/>
                </a:rPr>
                <a:t> </a:t>
              </a:r>
              <a:r>
                <a:rPr lang="en-US" sz="400" dirty="0" err="1">
                  <a:solidFill>
                    <a:srgbClr val="000000"/>
                  </a:solidFill>
                  <a:latin typeface="Century Schoolbook" panose="02040604050505020304" pitchFamily="18" charset="0"/>
                  <a:ea typeface="Garet"/>
                  <a:cs typeface="Garet"/>
                  <a:sym typeface="Garet"/>
                </a:rPr>
                <a:t>émet</a:t>
              </a:r>
              <a:r>
                <a:rPr lang="en-US" sz="400" dirty="0">
                  <a:solidFill>
                    <a:srgbClr val="000000"/>
                  </a:solidFill>
                  <a:latin typeface="Century Schoolbook" panose="02040604050505020304" pitchFamily="18" charset="0"/>
                  <a:ea typeface="Garet"/>
                  <a:cs typeface="Garet"/>
                  <a:sym typeface="Garet"/>
                </a:rPr>
                <a:t> environ </a:t>
              </a:r>
              <a:r>
                <a:rPr lang="en-US" sz="400" b="1" dirty="0">
                  <a:solidFill>
                    <a:srgbClr val="000000"/>
                  </a:solidFill>
                  <a:latin typeface="Century Schoolbook" panose="02040604050505020304" pitchFamily="18" charset="0"/>
                  <a:ea typeface="Garet Bold"/>
                  <a:cs typeface="Garet Bold"/>
                  <a:sym typeface="Garet Bold"/>
                </a:rPr>
                <a:t>2,7 kg </a:t>
              </a:r>
              <a:r>
                <a:rPr lang="en-US" sz="400" dirty="0">
                  <a:solidFill>
                    <a:srgbClr val="000000"/>
                  </a:solidFill>
                  <a:latin typeface="Century Schoolbook" panose="02040604050505020304" pitchFamily="18" charset="0"/>
                  <a:ea typeface="Garet"/>
                  <a:cs typeface="Garet"/>
                  <a:sym typeface="Garet"/>
                </a:rPr>
                <a:t>de CO2.</a:t>
              </a:r>
            </a:p>
            <a:p>
              <a:pPr marL="68583" lvl="1" indent="-34291" algn="ctr">
                <a:lnSpc>
                  <a:spcPts val="413"/>
                </a:lnSpc>
                <a:buFont typeface="Arial"/>
                <a:buChar char="•"/>
              </a:pPr>
              <a:r>
                <a:rPr lang="en-US" sz="400" dirty="0" err="1">
                  <a:solidFill>
                    <a:srgbClr val="000000"/>
                  </a:solidFill>
                  <a:latin typeface="Century Schoolbook" panose="02040604050505020304" pitchFamily="18" charset="0"/>
                  <a:ea typeface="Garet"/>
                  <a:cs typeface="Garet"/>
                  <a:sym typeface="Garet"/>
                </a:rPr>
                <a:t>Autres</a:t>
              </a:r>
              <a:r>
                <a:rPr lang="en-US" sz="400" dirty="0">
                  <a:solidFill>
                    <a:srgbClr val="000000"/>
                  </a:solidFill>
                  <a:latin typeface="Century Schoolbook" panose="02040604050505020304" pitchFamily="18" charset="0"/>
                  <a:ea typeface="Garet"/>
                  <a:cs typeface="Garet"/>
                  <a:sym typeface="Garet"/>
                </a:rPr>
                <a:t> carburants : Le GPL </a:t>
              </a:r>
              <a:r>
                <a:rPr lang="en-US" sz="400" dirty="0" err="1">
                  <a:solidFill>
                    <a:srgbClr val="000000"/>
                  </a:solidFill>
                  <a:latin typeface="Century Schoolbook" panose="02040604050505020304" pitchFamily="18" charset="0"/>
                  <a:ea typeface="Garet"/>
                  <a:cs typeface="Garet"/>
                  <a:sym typeface="Garet"/>
                </a:rPr>
                <a:t>émet</a:t>
              </a:r>
              <a:r>
                <a:rPr lang="en-US" sz="400" dirty="0">
                  <a:solidFill>
                    <a:srgbClr val="000000"/>
                  </a:solidFill>
                  <a:latin typeface="Century Schoolbook" panose="02040604050505020304" pitchFamily="18" charset="0"/>
                  <a:ea typeface="Garet"/>
                  <a:cs typeface="Garet"/>
                  <a:sym typeface="Garet"/>
                </a:rPr>
                <a:t> environ </a:t>
              </a:r>
              <a:r>
                <a:rPr lang="en-US" sz="400" b="1" dirty="0">
                  <a:solidFill>
                    <a:srgbClr val="000000"/>
                  </a:solidFill>
                  <a:latin typeface="Century Schoolbook" panose="02040604050505020304" pitchFamily="18" charset="0"/>
                  <a:ea typeface="Garet Bold"/>
                  <a:cs typeface="Garet Bold"/>
                  <a:sym typeface="Garet Bold"/>
                </a:rPr>
                <a:t>1,66 kg</a:t>
              </a:r>
              <a:r>
                <a:rPr lang="en-US" sz="400" dirty="0">
                  <a:solidFill>
                    <a:srgbClr val="000000"/>
                  </a:solidFill>
                  <a:latin typeface="Century Schoolbook" panose="02040604050505020304" pitchFamily="18" charset="0"/>
                  <a:ea typeface="Garet"/>
                  <a:cs typeface="Garet"/>
                  <a:sym typeface="Garet"/>
                </a:rPr>
                <a:t> de</a:t>
              </a:r>
            </a:p>
            <a:p>
              <a:pPr algn="ctr">
                <a:lnSpc>
                  <a:spcPts val="413"/>
                </a:lnSpc>
              </a:pPr>
              <a:r>
                <a:rPr lang="en-US" sz="400" dirty="0">
                  <a:solidFill>
                    <a:srgbClr val="000000"/>
                  </a:solidFill>
                  <a:latin typeface="Century Schoolbook" panose="02040604050505020304" pitchFamily="18" charset="0"/>
                  <a:ea typeface="Garet"/>
                  <a:cs typeface="Garet"/>
                  <a:sym typeface="Garet"/>
                </a:rPr>
                <a:t> CO2 par </a:t>
              </a:r>
              <a:r>
                <a:rPr lang="en-US" sz="400" dirty="0" err="1">
                  <a:solidFill>
                    <a:srgbClr val="000000"/>
                  </a:solidFill>
                  <a:latin typeface="Century Schoolbook" panose="02040604050505020304" pitchFamily="18" charset="0"/>
                  <a:ea typeface="Garet"/>
                  <a:cs typeface="Garet"/>
                  <a:sym typeface="Garet"/>
                </a:rPr>
                <a:t>litre</a:t>
              </a:r>
              <a:r>
                <a:rPr lang="en-US" sz="400" dirty="0">
                  <a:solidFill>
                    <a:srgbClr val="000000"/>
                  </a:solidFill>
                  <a:latin typeface="Century Schoolbook" panose="02040604050505020304" pitchFamily="18" charset="0"/>
                  <a:ea typeface="Garet"/>
                  <a:cs typeface="Garet"/>
                  <a:sym typeface="Garet"/>
                </a:rPr>
                <a:t>. </a:t>
              </a:r>
            </a:p>
            <a:p>
              <a:pPr algn="ctr">
                <a:lnSpc>
                  <a:spcPts val="413"/>
                </a:lnSpc>
              </a:pPr>
              <a:endParaRPr lang="en-US" sz="400" dirty="0">
                <a:solidFill>
                  <a:srgbClr val="000000"/>
                </a:solidFill>
                <a:latin typeface="Century Schoolbook" panose="02040604050505020304" pitchFamily="18" charset="0"/>
                <a:ea typeface="Garet"/>
                <a:cs typeface="Garet"/>
                <a:sym typeface="Garet"/>
              </a:endParaRPr>
            </a:p>
            <a:p>
              <a:pPr algn="ctr">
                <a:lnSpc>
                  <a:spcPts val="413"/>
                </a:lnSpc>
              </a:pPr>
              <a:r>
                <a:rPr lang="en-US" sz="400" b="1" dirty="0">
                  <a:solidFill>
                    <a:srgbClr val="000000"/>
                  </a:solidFill>
                  <a:latin typeface="Century Schoolbook" panose="02040604050505020304" pitchFamily="18" charset="0"/>
                  <a:ea typeface="Garet Bold"/>
                  <a:cs typeface="Garet Bold"/>
                  <a:sym typeface="Garet Bold"/>
                </a:rPr>
                <a:t>         SOURCE</a:t>
              </a:r>
              <a:r>
                <a:rPr lang="en-US" sz="400" dirty="0">
                  <a:solidFill>
                    <a:srgbClr val="000000"/>
                  </a:solidFill>
                  <a:latin typeface="Century Schoolbook" panose="02040604050505020304" pitchFamily="18" charset="0"/>
                  <a:ea typeface="Garet"/>
                  <a:cs typeface="Garet"/>
                  <a:sym typeface="Garet"/>
                </a:rPr>
                <a:t> :   </a:t>
              </a:r>
              <a:r>
                <a:rPr lang="en-US" sz="400" b="1" i="1" dirty="0">
                  <a:solidFill>
                    <a:srgbClr val="0070C0"/>
                  </a:solidFill>
                  <a:latin typeface="Century Schoolbook" panose="02040604050505020304" pitchFamily="18" charset="0"/>
                  <a:ea typeface="Garet Bold Italics"/>
                  <a:cs typeface="Garet Bold Italics"/>
                  <a:sym typeface="Garet Bold Italics"/>
                  <a:hlinkClick r:id="rId4" tooltip="https://www.epa.gov/greenvehicles/greenhouse-gas-emissions-typical-passenger-vehicl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EPA - Greenhouse Gas Emissions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556057" y="726914"/>
            <a:ext cx="2378449" cy="2439968"/>
            <a:chOff x="0" y="0"/>
            <a:chExt cx="6988530" cy="7169289"/>
          </a:xfrm>
        </p:grpSpPr>
        <p:grpSp>
          <p:nvGrpSpPr>
            <p:cNvPr id="17" name="Group 17"/>
            <p:cNvGrpSpPr/>
            <p:nvPr/>
          </p:nvGrpSpPr>
          <p:grpSpPr>
            <a:xfrm>
              <a:off x="724829" y="0"/>
              <a:ext cx="5776932" cy="1104071"/>
              <a:chOff x="0" y="0"/>
              <a:chExt cx="1669977" cy="31916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669977" cy="319161"/>
              </a:xfrm>
              <a:custGeom>
                <a:avLst/>
                <a:gdLst/>
                <a:ahLst/>
                <a:cxnLst/>
                <a:rect l="l" t="t" r="r" b="b"/>
                <a:pathLst>
                  <a:path w="1669977" h="319161">
                    <a:moveTo>
                      <a:pt x="125080" y="0"/>
                    </a:moveTo>
                    <a:lnTo>
                      <a:pt x="1544897" y="0"/>
                    </a:lnTo>
                    <a:cubicBezTo>
                      <a:pt x="1578070" y="0"/>
                      <a:pt x="1609885" y="13178"/>
                      <a:pt x="1633342" y="36635"/>
                    </a:cubicBezTo>
                    <a:cubicBezTo>
                      <a:pt x="1656799" y="60092"/>
                      <a:pt x="1669977" y="91907"/>
                      <a:pt x="1669977" y="125080"/>
                    </a:cubicBezTo>
                    <a:lnTo>
                      <a:pt x="1669977" y="194081"/>
                    </a:lnTo>
                    <a:cubicBezTo>
                      <a:pt x="1669977" y="263161"/>
                      <a:pt x="1613977" y="319161"/>
                      <a:pt x="1544897" y="319161"/>
                    </a:cubicBezTo>
                    <a:lnTo>
                      <a:pt x="125080" y="319161"/>
                    </a:lnTo>
                    <a:cubicBezTo>
                      <a:pt x="56000" y="319161"/>
                      <a:pt x="0" y="263161"/>
                      <a:pt x="0" y="194081"/>
                    </a:cubicBezTo>
                    <a:lnTo>
                      <a:pt x="0" y="125080"/>
                    </a:lnTo>
                    <a:cubicBezTo>
                      <a:pt x="0" y="56000"/>
                      <a:pt x="56000" y="0"/>
                      <a:pt x="125080" y="0"/>
                    </a:cubicBezTo>
                    <a:close/>
                  </a:path>
                </a:pathLst>
              </a:custGeom>
              <a:solidFill>
                <a:srgbClr val="9ECAFF"/>
              </a:solidFill>
              <a:ln w="28575" cap="rnd">
                <a:solidFill>
                  <a:srgbClr val="3B393F"/>
                </a:solidFill>
                <a:prstDash val="solid"/>
                <a:round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9525"/>
                <a:ext cx="1669977" cy="328686"/>
              </a:xfrm>
              <a:prstGeom prst="rect">
                <a:avLst/>
              </a:prstGeom>
            </p:spPr>
            <p:txBody>
              <a:bodyPr lIns="12298" tIns="12298" rIns="12298" bIns="12298" rtlCol="0" anchor="ctr"/>
              <a:lstStyle/>
              <a:p>
                <a:pPr>
                  <a:lnSpc>
                    <a:spcPts val="1985"/>
                  </a:lnSpc>
                  <a:spcBef>
                    <a:spcPct val="0"/>
                  </a:spcBef>
                </a:pPr>
                <a:r>
                  <a:rPr lang="en-US" sz="1588" b="1">
                    <a:solidFill>
                      <a:srgbClr val="3B393F"/>
                    </a:solidFill>
                    <a:latin typeface="Garet Bold"/>
                    <a:ea typeface="Garet Bold"/>
                    <a:cs typeface="Garet Bold"/>
                    <a:sym typeface="Garet Bold"/>
                  </a:rPr>
                  <a:t>   </a:t>
                </a:r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088718" y="185114"/>
              <a:ext cx="5049156" cy="2805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94"/>
                </a:lnSpc>
              </a:pPr>
              <a:r>
                <a:rPr lang="en-US" sz="635" b="1">
                  <a:solidFill>
                    <a:srgbClr val="3B393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REALISATION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0" y="1299651"/>
              <a:ext cx="6988530" cy="5869638"/>
              <a:chOff x="0" y="0"/>
              <a:chExt cx="939199" cy="78883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939199" cy="788830"/>
              </a:xfrm>
              <a:custGeom>
                <a:avLst/>
                <a:gdLst/>
                <a:ahLst/>
                <a:cxnLst/>
                <a:rect l="l" t="t" r="r" b="b"/>
                <a:pathLst>
                  <a:path w="939199" h="788830">
                    <a:moveTo>
                      <a:pt x="44312" y="0"/>
                    </a:moveTo>
                    <a:lnTo>
                      <a:pt x="894887" y="0"/>
                    </a:lnTo>
                    <a:cubicBezTo>
                      <a:pt x="919360" y="0"/>
                      <a:pt x="939199" y="19839"/>
                      <a:pt x="939199" y="44312"/>
                    </a:cubicBezTo>
                    <a:lnTo>
                      <a:pt x="939199" y="744517"/>
                    </a:lnTo>
                    <a:cubicBezTo>
                      <a:pt x="939199" y="756270"/>
                      <a:pt x="934531" y="767541"/>
                      <a:pt x="926220" y="775851"/>
                    </a:cubicBezTo>
                    <a:cubicBezTo>
                      <a:pt x="917910" y="784161"/>
                      <a:pt x="906639" y="788830"/>
                      <a:pt x="894887" y="788830"/>
                    </a:cubicBezTo>
                    <a:lnTo>
                      <a:pt x="44312" y="788830"/>
                    </a:lnTo>
                    <a:cubicBezTo>
                      <a:pt x="19839" y="788830"/>
                      <a:pt x="0" y="768990"/>
                      <a:pt x="0" y="744517"/>
                    </a:cubicBezTo>
                    <a:lnTo>
                      <a:pt x="0" y="44312"/>
                    </a:lnTo>
                    <a:cubicBezTo>
                      <a:pt x="0" y="32560"/>
                      <a:pt x="4669" y="21289"/>
                      <a:pt x="12979" y="12979"/>
                    </a:cubicBezTo>
                    <a:cubicBezTo>
                      <a:pt x="21289" y="4669"/>
                      <a:pt x="32560" y="0"/>
                      <a:pt x="44312" y="0"/>
                    </a:cubicBezTo>
                    <a:close/>
                  </a:path>
                </a:pathLst>
              </a:custGeom>
              <a:solidFill>
                <a:srgbClr val="D1E6FF"/>
              </a:solidFill>
              <a:ln w="28575" cap="rnd">
                <a:solidFill>
                  <a:srgbClr val="3B393F"/>
                </a:solidFill>
                <a:prstDash val="solid"/>
                <a:round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939199" cy="826930"/>
              </a:xfrm>
              <a:prstGeom prst="rect">
                <a:avLst/>
              </a:prstGeom>
            </p:spPr>
            <p:txBody>
              <a:bodyPr lIns="23052" tIns="23052" rIns="23052" bIns="23052" rtlCol="0" anchor="ctr"/>
              <a:lstStyle/>
              <a:p>
                <a:pPr algn="ctr">
                  <a:lnSpc>
                    <a:spcPts val="2130"/>
                  </a:lnSpc>
                  <a:spcBef>
                    <a:spcPct val="0"/>
                  </a:spcBef>
                </a:pPr>
                <a:endParaRPr sz="817"/>
              </a:p>
            </p:txBody>
          </p:sp>
        </p:grpSp>
        <p:sp>
          <p:nvSpPr>
            <p:cNvPr id="24" name="Freeform 24"/>
            <p:cNvSpPr/>
            <p:nvPr/>
          </p:nvSpPr>
          <p:spPr>
            <a:xfrm>
              <a:off x="3695700" y="3305134"/>
              <a:ext cx="2861029" cy="2962749"/>
            </a:xfrm>
            <a:custGeom>
              <a:avLst/>
              <a:gdLst/>
              <a:ahLst/>
              <a:cxnLst/>
              <a:rect l="l" t="t" r="r" b="b"/>
              <a:pathLst>
                <a:path w="2861029" h="2962749">
                  <a:moveTo>
                    <a:pt x="0" y="0"/>
                  </a:moveTo>
                  <a:lnTo>
                    <a:pt x="2861029" y="0"/>
                  </a:lnTo>
                  <a:lnTo>
                    <a:pt x="2861029" y="2962749"/>
                  </a:lnTo>
                  <a:lnTo>
                    <a:pt x="0" y="29627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93133"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>
              <a:off x="302813" y="1408018"/>
              <a:ext cx="6183907" cy="2484508"/>
            </a:xfrm>
            <a:custGeom>
              <a:avLst/>
              <a:gdLst/>
              <a:ahLst/>
              <a:cxnLst/>
              <a:rect l="l" t="t" r="r" b="b"/>
              <a:pathLst>
                <a:path w="6183907" h="2484508">
                  <a:moveTo>
                    <a:pt x="0" y="0"/>
                  </a:moveTo>
                  <a:lnTo>
                    <a:pt x="6183908" y="0"/>
                  </a:lnTo>
                  <a:lnTo>
                    <a:pt x="6183908" y="2484508"/>
                  </a:lnTo>
                  <a:lnTo>
                    <a:pt x="0" y="24845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3770966" y="6367203"/>
              <a:ext cx="2710497" cy="5819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26"/>
                </a:lnSpc>
              </a:pPr>
              <a:r>
                <a:rPr lang="en-US" sz="635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Premier prototype de </a:t>
              </a:r>
            </a:p>
            <a:p>
              <a:pPr algn="ctr">
                <a:lnSpc>
                  <a:spcPts val="826"/>
                </a:lnSpc>
                <a:spcBef>
                  <a:spcPct val="0"/>
                </a:spcBef>
              </a:pPr>
              <a:r>
                <a:rPr lang="en-US" sz="635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substrat filtrant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00190" y="3972831"/>
              <a:ext cx="3096874" cy="14863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26"/>
                </a:lnSpc>
                <a:spcBef>
                  <a:spcPct val="0"/>
                </a:spcBef>
              </a:pPr>
              <a:r>
                <a:rPr lang="en-US" sz="635" dirty="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Le but </a:t>
              </a:r>
              <a:r>
                <a:rPr lang="en-US" sz="635" dirty="0" err="1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fut</a:t>
              </a:r>
              <a:r>
                <a:rPr lang="en-US" sz="635" dirty="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 </a:t>
              </a:r>
              <a:r>
                <a:rPr lang="en-US" sz="635" dirty="0" err="1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d’avoir</a:t>
              </a:r>
              <a:r>
                <a:rPr lang="en-US" sz="635" dirty="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 une vision </a:t>
              </a:r>
              <a:r>
                <a:rPr lang="en-US" sz="635" dirty="0" err="1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générale</a:t>
              </a:r>
              <a:r>
                <a:rPr lang="en-US" sz="635" dirty="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 sur le </a:t>
              </a:r>
              <a:r>
                <a:rPr lang="en-US" sz="635" dirty="0" err="1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modèle</a:t>
              </a:r>
              <a:r>
                <a:rPr lang="en-US" sz="635" dirty="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 premier , </a:t>
              </a:r>
              <a:r>
                <a:rPr lang="en-US" sz="635" dirty="0" err="1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effectuer</a:t>
              </a:r>
              <a:r>
                <a:rPr lang="en-US" sz="635" dirty="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 des tests et </a:t>
              </a:r>
              <a:r>
                <a:rPr lang="en-US" sz="635" dirty="0" err="1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songer</a:t>
              </a:r>
              <a:r>
                <a:rPr lang="en-US" sz="635" dirty="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 à des </a:t>
              </a:r>
              <a:r>
                <a:rPr lang="en-US" sz="635" dirty="0" err="1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améliorations</a:t>
              </a:r>
              <a:r>
                <a:rPr lang="en-US" sz="635" dirty="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722653" y="2390913"/>
            <a:ext cx="4754577" cy="2752918"/>
            <a:chOff x="0" y="0"/>
            <a:chExt cx="11654802" cy="643980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027378" cy="5494161"/>
            </a:xfrm>
            <a:custGeom>
              <a:avLst/>
              <a:gdLst/>
              <a:ahLst/>
              <a:cxnLst/>
              <a:rect l="l" t="t" r="r" b="b"/>
              <a:pathLst>
                <a:path w="10027378" h="5494161">
                  <a:moveTo>
                    <a:pt x="0" y="0"/>
                  </a:moveTo>
                  <a:lnTo>
                    <a:pt x="10027378" y="0"/>
                  </a:lnTo>
                  <a:lnTo>
                    <a:pt x="10027378" y="5494161"/>
                  </a:lnTo>
                  <a:lnTo>
                    <a:pt x="0" y="5494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755" r="-4755" b="-4931"/>
              </a:stretch>
            </a:blipFill>
          </p:spPr>
        </p:sp>
        <p:sp>
          <p:nvSpPr>
            <p:cNvPr id="40" name="Freeform 40"/>
            <p:cNvSpPr/>
            <p:nvPr/>
          </p:nvSpPr>
          <p:spPr>
            <a:xfrm>
              <a:off x="7534422" y="3143502"/>
              <a:ext cx="4120381" cy="3296304"/>
            </a:xfrm>
            <a:custGeom>
              <a:avLst/>
              <a:gdLst/>
              <a:ahLst/>
              <a:cxnLst/>
              <a:rect l="l" t="t" r="r" b="b"/>
              <a:pathLst>
                <a:path w="4120381" h="3296304">
                  <a:moveTo>
                    <a:pt x="0" y="0"/>
                  </a:moveTo>
                  <a:lnTo>
                    <a:pt x="4120380" y="0"/>
                  </a:lnTo>
                  <a:lnTo>
                    <a:pt x="4120380" y="3296304"/>
                  </a:lnTo>
                  <a:lnTo>
                    <a:pt x="0" y="3296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41" name="Freeform 41"/>
            <p:cNvSpPr/>
            <p:nvPr/>
          </p:nvSpPr>
          <p:spPr>
            <a:xfrm>
              <a:off x="3715276" y="703908"/>
              <a:ext cx="3084869" cy="3025821"/>
            </a:xfrm>
            <a:custGeom>
              <a:avLst/>
              <a:gdLst/>
              <a:ahLst/>
              <a:cxnLst/>
              <a:rect l="l" t="t" r="r" b="b"/>
              <a:pathLst>
                <a:path w="3084869" h="3025821">
                  <a:moveTo>
                    <a:pt x="0" y="0"/>
                  </a:moveTo>
                  <a:lnTo>
                    <a:pt x="3084869" y="0"/>
                  </a:lnTo>
                  <a:lnTo>
                    <a:pt x="3084869" y="3025821"/>
                  </a:lnTo>
                  <a:lnTo>
                    <a:pt x="0" y="3025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6638" r="-13829"/>
              </a:stretch>
            </a:blipFill>
          </p:spPr>
        </p:sp>
      </p:grpSp>
      <p:grpSp>
        <p:nvGrpSpPr>
          <p:cNvPr id="44" name="Group 44"/>
          <p:cNvGrpSpPr/>
          <p:nvPr/>
        </p:nvGrpSpPr>
        <p:grpSpPr>
          <a:xfrm>
            <a:off x="1540549" y="3902238"/>
            <a:ext cx="1667544" cy="377087"/>
            <a:chOff x="0" y="0"/>
            <a:chExt cx="1416389" cy="32029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416389" cy="320292"/>
            </a:xfrm>
            <a:custGeom>
              <a:avLst/>
              <a:gdLst/>
              <a:ahLst/>
              <a:cxnLst/>
              <a:rect l="l" t="t" r="r" b="b"/>
              <a:pathLst>
                <a:path w="1416389" h="320292">
                  <a:moveTo>
                    <a:pt x="147474" y="0"/>
                  </a:moveTo>
                  <a:lnTo>
                    <a:pt x="1268915" y="0"/>
                  </a:lnTo>
                  <a:cubicBezTo>
                    <a:pt x="1350362" y="0"/>
                    <a:pt x="1416389" y="66026"/>
                    <a:pt x="1416389" y="147474"/>
                  </a:cubicBezTo>
                  <a:lnTo>
                    <a:pt x="1416389" y="172818"/>
                  </a:lnTo>
                  <a:cubicBezTo>
                    <a:pt x="1416389" y="211930"/>
                    <a:pt x="1400851" y="249441"/>
                    <a:pt x="1373195" y="277098"/>
                  </a:cubicBezTo>
                  <a:cubicBezTo>
                    <a:pt x="1345538" y="304755"/>
                    <a:pt x="1308027" y="320292"/>
                    <a:pt x="1268915" y="320292"/>
                  </a:cubicBezTo>
                  <a:lnTo>
                    <a:pt x="147474" y="320292"/>
                  </a:lnTo>
                  <a:cubicBezTo>
                    <a:pt x="108362" y="320292"/>
                    <a:pt x="70851" y="304755"/>
                    <a:pt x="43194" y="277098"/>
                  </a:cubicBezTo>
                  <a:cubicBezTo>
                    <a:pt x="15537" y="249441"/>
                    <a:pt x="0" y="211930"/>
                    <a:pt x="0" y="172818"/>
                  </a:cubicBezTo>
                  <a:lnTo>
                    <a:pt x="0" y="147474"/>
                  </a:lnTo>
                  <a:cubicBezTo>
                    <a:pt x="0" y="108362"/>
                    <a:pt x="15537" y="70851"/>
                    <a:pt x="43194" y="43194"/>
                  </a:cubicBezTo>
                  <a:cubicBezTo>
                    <a:pt x="70851" y="15537"/>
                    <a:pt x="108362" y="0"/>
                    <a:pt x="147474" y="0"/>
                  </a:cubicBezTo>
                  <a:close/>
                </a:path>
              </a:pathLst>
            </a:custGeom>
            <a:solidFill>
              <a:srgbClr val="2EAE65"/>
            </a:solidFill>
            <a:ln w="28575" cap="rnd">
              <a:solidFill>
                <a:srgbClr val="3B393F"/>
              </a:solidFill>
              <a:prstDash val="solid"/>
              <a:round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1416389" cy="329817"/>
            </a:xfrm>
            <a:prstGeom prst="rect">
              <a:avLst/>
            </a:prstGeom>
          </p:spPr>
          <p:txBody>
            <a:bodyPr lIns="12298" tIns="12298" rIns="12298" bIns="12298" rtlCol="0" anchor="ctr"/>
            <a:lstStyle/>
            <a:p>
              <a:pPr>
                <a:lnSpc>
                  <a:spcPts val="1985"/>
                </a:lnSpc>
                <a:spcBef>
                  <a:spcPct val="0"/>
                </a:spcBef>
              </a:pPr>
              <a:r>
                <a:rPr lang="en-US" sz="1588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   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144525" y="4351334"/>
            <a:ext cx="2578128" cy="1989414"/>
            <a:chOff x="0" y="0"/>
            <a:chExt cx="945275" cy="78557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945275" cy="785578"/>
            </a:xfrm>
            <a:custGeom>
              <a:avLst/>
              <a:gdLst/>
              <a:ahLst/>
              <a:cxnLst/>
              <a:rect l="l" t="t" r="r" b="b"/>
              <a:pathLst>
                <a:path w="945275" h="785578">
                  <a:moveTo>
                    <a:pt x="44027" y="0"/>
                  </a:moveTo>
                  <a:lnTo>
                    <a:pt x="901248" y="0"/>
                  </a:lnTo>
                  <a:cubicBezTo>
                    <a:pt x="912924" y="0"/>
                    <a:pt x="924123" y="4639"/>
                    <a:pt x="932380" y="12895"/>
                  </a:cubicBezTo>
                  <a:cubicBezTo>
                    <a:pt x="940636" y="21152"/>
                    <a:pt x="945275" y="32351"/>
                    <a:pt x="945275" y="44027"/>
                  </a:cubicBezTo>
                  <a:lnTo>
                    <a:pt x="945275" y="741550"/>
                  </a:lnTo>
                  <a:cubicBezTo>
                    <a:pt x="945275" y="753227"/>
                    <a:pt x="940636" y="764425"/>
                    <a:pt x="932380" y="772682"/>
                  </a:cubicBezTo>
                  <a:cubicBezTo>
                    <a:pt x="924123" y="780939"/>
                    <a:pt x="912924" y="785578"/>
                    <a:pt x="901248" y="785578"/>
                  </a:cubicBezTo>
                  <a:lnTo>
                    <a:pt x="44027" y="785578"/>
                  </a:lnTo>
                  <a:cubicBezTo>
                    <a:pt x="19712" y="785578"/>
                    <a:pt x="0" y="765866"/>
                    <a:pt x="0" y="741550"/>
                  </a:cubicBezTo>
                  <a:lnTo>
                    <a:pt x="0" y="44027"/>
                  </a:lnTo>
                  <a:cubicBezTo>
                    <a:pt x="0" y="32351"/>
                    <a:pt x="4639" y="21152"/>
                    <a:pt x="12895" y="12895"/>
                  </a:cubicBezTo>
                  <a:cubicBezTo>
                    <a:pt x="21152" y="4639"/>
                    <a:pt x="32351" y="0"/>
                    <a:pt x="44027" y="0"/>
                  </a:cubicBezTo>
                  <a:close/>
                </a:path>
              </a:pathLst>
            </a:custGeom>
            <a:solidFill>
              <a:srgbClr val="46CC74"/>
            </a:solidFill>
            <a:ln w="28575" cap="rnd">
              <a:solidFill>
                <a:srgbClr val="3B393F"/>
              </a:solidFill>
              <a:prstDash val="solid"/>
              <a:round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945275" cy="823678"/>
            </a:xfrm>
            <a:prstGeom prst="rect">
              <a:avLst/>
            </a:prstGeom>
          </p:spPr>
          <p:txBody>
            <a:bodyPr lIns="23052" tIns="23052" rIns="23052" bIns="23052" rtlCol="0" anchor="ctr"/>
            <a:lstStyle/>
            <a:p>
              <a:pPr algn="ctr">
                <a:lnSpc>
                  <a:spcPts val="2130"/>
                </a:lnSpc>
                <a:spcBef>
                  <a:spcPct val="0"/>
                </a:spcBef>
              </a:pPr>
              <a:endParaRPr sz="817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556057" y="4779035"/>
            <a:ext cx="2455325" cy="1589918"/>
            <a:chOff x="0" y="0"/>
            <a:chExt cx="921380" cy="562487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921380" cy="562487"/>
            </a:xfrm>
            <a:custGeom>
              <a:avLst/>
              <a:gdLst/>
              <a:ahLst/>
              <a:cxnLst/>
              <a:rect l="l" t="t" r="r" b="b"/>
              <a:pathLst>
                <a:path w="921380" h="562487">
                  <a:moveTo>
                    <a:pt x="45169" y="0"/>
                  </a:moveTo>
                  <a:lnTo>
                    <a:pt x="876211" y="0"/>
                  </a:lnTo>
                  <a:cubicBezTo>
                    <a:pt x="888191" y="0"/>
                    <a:pt x="899679" y="4759"/>
                    <a:pt x="908150" y="13230"/>
                  </a:cubicBezTo>
                  <a:cubicBezTo>
                    <a:pt x="916621" y="21701"/>
                    <a:pt x="921380" y="33190"/>
                    <a:pt x="921380" y="45169"/>
                  </a:cubicBezTo>
                  <a:lnTo>
                    <a:pt x="921380" y="517318"/>
                  </a:lnTo>
                  <a:cubicBezTo>
                    <a:pt x="921380" y="529297"/>
                    <a:pt x="916621" y="540786"/>
                    <a:pt x="908150" y="549257"/>
                  </a:cubicBezTo>
                  <a:cubicBezTo>
                    <a:pt x="899679" y="557728"/>
                    <a:pt x="888191" y="562487"/>
                    <a:pt x="876211" y="562487"/>
                  </a:cubicBezTo>
                  <a:lnTo>
                    <a:pt x="45169" y="562487"/>
                  </a:lnTo>
                  <a:cubicBezTo>
                    <a:pt x="33190" y="562487"/>
                    <a:pt x="21701" y="557728"/>
                    <a:pt x="13230" y="549257"/>
                  </a:cubicBezTo>
                  <a:cubicBezTo>
                    <a:pt x="4759" y="540786"/>
                    <a:pt x="0" y="529297"/>
                    <a:pt x="0" y="517318"/>
                  </a:cubicBezTo>
                  <a:lnTo>
                    <a:pt x="0" y="45169"/>
                  </a:lnTo>
                  <a:cubicBezTo>
                    <a:pt x="0" y="33190"/>
                    <a:pt x="4759" y="21701"/>
                    <a:pt x="13230" y="13230"/>
                  </a:cubicBezTo>
                  <a:cubicBezTo>
                    <a:pt x="21701" y="4759"/>
                    <a:pt x="33190" y="0"/>
                    <a:pt x="45169" y="0"/>
                  </a:cubicBezTo>
                  <a:close/>
                </a:path>
              </a:pathLst>
            </a:custGeom>
            <a:solidFill>
              <a:srgbClr val="6AE4F0"/>
            </a:solidFill>
            <a:ln w="28575" cap="rnd">
              <a:solidFill>
                <a:srgbClr val="3B393F"/>
              </a:solidFill>
              <a:prstDash val="solid"/>
              <a:round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921380" cy="600587"/>
            </a:xfrm>
            <a:prstGeom prst="rect">
              <a:avLst/>
            </a:prstGeom>
          </p:spPr>
          <p:txBody>
            <a:bodyPr lIns="23052" tIns="23052" rIns="23052" bIns="23052" rtlCol="0" anchor="ctr"/>
            <a:lstStyle/>
            <a:p>
              <a:pPr algn="ctr">
                <a:lnSpc>
                  <a:spcPts val="2130"/>
                </a:lnSpc>
                <a:spcBef>
                  <a:spcPct val="0"/>
                </a:spcBef>
              </a:pPr>
              <a:endParaRPr sz="817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877114" y="4338544"/>
            <a:ext cx="1817353" cy="375755"/>
            <a:chOff x="0" y="0"/>
            <a:chExt cx="1543634" cy="319161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543634" cy="319161"/>
            </a:xfrm>
            <a:custGeom>
              <a:avLst/>
              <a:gdLst/>
              <a:ahLst/>
              <a:cxnLst/>
              <a:rect l="l" t="t" r="r" b="b"/>
              <a:pathLst>
                <a:path w="1543634" h="319161">
                  <a:moveTo>
                    <a:pt x="135318" y="0"/>
                  </a:moveTo>
                  <a:lnTo>
                    <a:pt x="1408317" y="0"/>
                  </a:lnTo>
                  <a:cubicBezTo>
                    <a:pt x="1483051" y="0"/>
                    <a:pt x="1543634" y="60584"/>
                    <a:pt x="1543634" y="135318"/>
                  </a:cubicBezTo>
                  <a:lnTo>
                    <a:pt x="1543634" y="183844"/>
                  </a:lnTo>
                  <a:cubicBezTo>
                    <a:pt x="1543634" y="258578"/>
                    <a:pt x="1483051" y="319161"/>
                    <a:pt x="1408317" y="319161"/>
                  </a:cubicBezTo>
                  <a:lnTo>
                    <a:pt x="135318" y="319161"/>
                  </a:lnTo>
                  <a:cubicBezTo>
                    <a:pt x="60584" y="319161"/>
                    <a:pt x="0" y="258578"/>
                    <a:pt x="0" y="183844"/>
                  </a:cubicBezTo>
                  <a:lnTo>
                    <a:pt x="0" y="135318"/>
                  </a:lnTo>
                  <a:cubicBezTo>
                    <a:pt x="0" y="60584"/>
                    <a:pt x="60584" y="0"/>
                    <a:pt x="135318" y="0"/>
                  </a:cubicBezTo>
                  <a:close/>
                </a:path>
              </a:pathLst>
            </a:custGeom>
            <a:solidFill>
              <a:srgbClr val="50C2CE"/>
            </a:solidFill>
            <a:ln w="28575" cap="rnd">
              <a:solidFill>
                <a:srgbClr val="3B393F"/>
              </a:solidFill>
              <a:prstDash val="solid"/>
              <a:round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0" y="-9525"/>
              <a:ext cx="1543634" cy="328686"/>
            </a:xfrm>
            <a:prstGeom prst="rect">
              <a:avLst/>
            </a:prstGeom>
          </p:spPr>
          <p:txBody>
            <a:bodyPr lIns="12298" tIns="12298" rIns="12298" bIns="12298" rtlCol="0" anchor="ctr"/>
            <a:lstStyle/>
            <a:p>
              <a:pPr>
                <a:lnSpc>
                  <a:spcPts val="1985"/>
                </a:lnSpc>
                <a:spcBef>
                  <a:spcPct val="0"/>
                </a:spcBef>
              </a:pPr>
              <a:r>
                <a:rPr lang="en-US" sz="1588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   </a:t>
              </a:r>
            </a:p>
          </p:txBody>
        </p:sp>
      </p:grpSp>
      <p:sp>
        <p:nvSpPr>
          <p:cNvPr id="59" name="Freeform 59"/>
          <p:cNvSpPr/>
          <p:nvPr/>
        </p:nvSpPr>
        <p:spPr>
          <a:xfrm>
            <a:off x="9953379" y="5563086"/>
            <a:ext cx="905123" cy="674820"/>
          </a:xfrm>
          <a:custGeom>
            <a:avLst/>
            <a:gdLst/>
            <a:ahLst/>
            <a:cxnLst/>
            <a:rect l="l" t="t" r="r" b="b"/>
            <a:pathLst>
              <a:path w="1927801" h="1415639">
                <a:moveTo>
                  <a:pt x="0" y="0"/>
                </a:moveTo>
                <a:lnTo>
                  <a:pt x="1927801" y="0"/>
                </a:lnTo>
                <a:lnTo>
                  <a:pt x="1927801" y="1415638"/>
                </a:lnTo>
                <a:lnTo>
                  <a:pt x="0" y="141563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b="-91856"/>
            </a:stretch>
          </a:blipFill>
        </p:spPr>
      </p:sp>
      <p:sp>
        <p:nvSpPr>
          <p:cNvPr id="60" name="Freeform 60"/>
          <p:cNvSpPr/>
          <p:nvPr/>
        </p:nvSpPr>
        <p:spPr>
          <a:xfrm>
            <a:off x="8670063" y="4877399"/>
            <a:ext cx="962230" cy="700144"/>
          </a:xfrm>
          <a:custGeom>
            <a:avLst/>
            <a:gdLst/>
            <a:ahLst/>
            <a:cxnLst/>
            <a:rect l="l" t="t" r="r" b="b"/>
            <a:pathLst>
              <a:path w="2120469" h="1542911">
                <a:moveTo>
                  <a:pt x="0" y="0"/>
                </a:moveTo>
                <a:lnTo>
                  <a:pt x="2120469" y="0"/>
                </a:lnTo>
                <a:lnTo>
                  <a:pt x="2120469" y="1542911"/>
                </a:lnTo>
                <a:lnTo>
                  <a:pt x="0" y="154291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b="-93623"/>
            </a:stretch>
          </a:blipFill>
        </p:spPr>
      </p:sp>
      <p:sp>
        <p:nvSpPr>
          <p:cNvPr id="61" name="Freeform 61"/>
          <p:cNvSpPr/>
          <p:nvPr/>
        </p:nvSpPr>
        <p:spPr>
          <a:xfrm>
            <a:off x="1566607" y="4538473"/>
            <a:ext cx="862451" cy="218210"/>
          </a:xfrm>
          <a:custGeom>
            <a:avLst/>
            <a:gdLst/>
            <a:ahLst/>
            <a:cxnLst/>
            <a:rect l="l" t="t" r="r" b="b"/>
            <a:pathLst>
              <a:path w="1900586" h="480871">
                <a:moveTo>
                  <a:pt x="0" y="0"/>
                </a:moveTo>
                <a:lnTo>
                  <a:pt x="1900586" y="0"/>
                </a:lnTo>
                <a:lnTo>
                  <a:pt x="1900586" y="480871"/>
                </a:lnTo>
                <a:lnTo>
                  <a:pt x="0" y="48087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62" name="Freeform 62"/>
          <p:cNvSpPr/>
          <p:nvPr/>
        </p:nvSpPr>
        <p:spPr>
          <a:xfrm>
            <a:off x="2119558" y="4761213"/>
            <a:ext cx="722069" cy="385162"/>
          </a:xfrm>
          <a:custGeom>
            <a:avLst/>
            <a:gdLst/>
            <a:ahLst/>
            <a:cxnLst/>
            <a:rect l="l" t="t" r="r" b="b"/>
            <a:pathLst>
              <a:path w="1591226" h="848783">
                <a:moveTo>
                  <a:pt x="0" y="0"/>
                </a:moveTo>
                <a:lnTo>
                  <a:pt x="1591226" y="0"/>
                </a:lnTo>
                <a:lnTo>
                  <a:pt x="1591226" y="848783"/>
                </a:lnTo>
                <a:lnTo>
                  <a:pt x="0" y="84878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b="-89975"/>
            </a:stretch>
          </a:blipFill>
        </p:spPr>
      </p:sp>
      <p:sp>
        <p:nvSpPr>
          <p:cNvPr id="63" name="Freeform 63"/>
          <p:cNvSpPr/>
          <p:nvPr/>
        </p:nvSpPr>
        <p:spPr>
          <a:xfrm>
            <a:off x="1348064" y="4761213"/>
            <a:ext cx="437086" cy="341951"/>
          </a:xfrm>
          <a:custGeom>
            <a:avLst/>
            <a:gdLst/>
            <a:ahLst/>
            <a:cxnLst/>
            <a:rect l="l" t="t" r="r" b="b"/>
            <a:pathLst>
              <a:path w="741807" h="753559">
                <a:moveTo>
                  <a:pt x="0" y="0"/>
                </a:moveTo>
                <a:lnTo>
                  <a:pt x="741806" y="0"/>
                </a:lnTo>
                <a:lnTo>
                  <a:pt x="741806" y="753559"/>
                </a:lnTo>
                <a:lnTo>
                  <a:pt x="0" y="75355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b="-93599"/>
            </a:stretch>
          </a:blipFill>
        </p:spPr>
      </p:sp>
      <p:sp>
        <p:nvSpPr>
          <p:cNvPr id="64" name="TextBox 64"/>
          <p:cNvSpPr txBox="1"/>
          <p:nvPr/>
        </p:nvSpPr>
        <p:spPr>
          <a:xfrm>
            <a:off x="2054100" y="5143831"/>
            <a:ext cx="827772" cy="205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"/>
              </a:lnSpc>
              <a:spcBef>
                <a:spcPct val="0"/>
              </a:spcBef>
            </a:pPr>
            <a:r>
              <a:rPr lang="en-US" sz="4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Processus</a:t>
            </a:r>
            <a:r>
              <a:rPr lang="en-US" sz="4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de </a:t>
            </a:r>
            <a:r>
              <a:rPr lang="en-US" sz="4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fonctionnement</a:t>
            </a:r>
            <a:r>
              <a:rPr lang="en-US" sz="4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</a:p>
          <a:p>
            <a:pPr algn="ctr">
              <a:lnSpc>
                <a:spcPts val="401"/>
              </a:lnSpc>
              <a:spcBef>
                <a:spcPct val="0"/>
              </a:spcBef>
            </a:pPr>
            <a:r>
              <a:rPr lang="en-US" sz="4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des Direct Air </a:t>
            </a:r>
          </a:p>
          <a:p>
            <a:pPr algn="ctr">
              <a:lnSpc>
                <a:spcPts val="401"/>
              </a:lnSpc>
              <a:spcBef>
                <a:spcPct val="0"/>
              </a:spcBef>
            </a:pPr>
            <a:r>
              <a:rPr lang="en-US" sz="4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Capture avec les Metal Organics-Framework.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2134337" y="5418811"/>
            <a:ext cx="611601" cy="295723"/>
            <a:chOff x="0" y="0"/>
            <a:chExt cx="1797050" cy="1010920"/>
          </a:xfrm>
        </p:grpSpPr>
        <p:sp>
          <p:nvSpPr>
            <p:cNvPr id="66" name="Freeform 66"/>
            <p:cNvSpPr/>
            <p:nvPr/>
          </p:nvSpPr>
          <p:spPr>
            <a:xfrm>
              <a:off x="44450" y="50800"/>
              <a:ext cx="1704340" cy="928370"/>
            </a:xfrm>
            <a:custGeom>
              <a:avLst/>
              <a:gdLst/>
              <a:ahLst/>
              <a:cxnLst/>
              <a:rect l="l" t="t" r="r" b="b"/>
              <a:pathLst>
                <a:path w="1704340" h="928370">
                  <a:moveTo>
                    <a:pt x="623570" y="13970"/>
                  </a:moveTo>
                  <a:cubicBezTo>
                    <a:pt x="1249680" y="2540"/>
                    <a:pt x="1287780" y="0"/>
                    <a:pt x="1334770" y="15240"/>
                  </a:cubicBezTo>
                  <a:cubicBezTo>
                    <a:pt x="1381760" y="29210"/>
                    <a:pt x="1426210" y="60960"/>
                    <a:pt x="1465580" y="87630"/>
                  </a:cubicBezTo>
                  <a:cubicBezTo>
                    <a:pt x="1503680" y="113030"/>
                    <a:pt x="1537970" y="135890"/>
                    <a:pt x="1568450" y="168910"/>
                  </a:cubicBezTo>
                  <a:cubicBezTo>
                    <a:pt x="1600200" y="204470"/>
                    <a:pt x="1629410" y="251460"/>
                    <a:pt x="1652270" y="294640"/>
                  </a:cubicBezTo>
                  <a:cubicBezTo>
                    <a:pt x="1672590" y="336550"/>
                    <a:pt x="1691640" y="388620"/>
                    <a:pt x="1699260" y="426720"/>
                  </a:cubicBezTo>
                  <a:cubicBezTo>
                    <a:pt x="1704340" y="454660"/>
                    <a:pt x="1704340" y="480060"/>
                    <a:pt x="1700530" y="500380"/>
                  </a:cubicBezTo>
                  <a:cubicBezTo>
                    <a:pt x="1699260" y="516890"/>
                    <a:pt x="1695450" y="527050"/>
                    <a:pt x="1687830" y="542290"/>
                  </a:cubicBezTo>
                  <a:cubicBezTo>
                    <a:pt x="1677670" y="561340"/>
                    <a:pt x="1647190" y="582930"/>
                    <a:pt x="1638300" y="604520"/>
                  </a:cubicBezTo>
                  <a:cubicBezTo>
                    <a:pt x="1630680" y="623570"/>
                    <a:pt x="1643380" y="643890"/>
                    <a:pt x="1633220" y="664210"/>
                  </a:cubicBezTo>
                  <a:cubicBezTo>
                    <a:pt x="1615440" y="698500"/>
                    <a:pt x="1554480" y="746760"/>
                    <a:pt x="1501140" y="775970"/>
                  </a:cubicBezTo>
                  <a:cubicBezTo>
                    <a:pt x="1441450" y="811530"/>
                    <a:pt x="1374140" y="830580"/>
                    <a:pt x="1285240" y="850900"/>
                  </a:cubicBezTo>
                  <a:cubicBezTo>
                    <a:pt x="1151890" y="880110"/>
                    <a:pt x="862330" y="927100"/>
                    <a:pt x="769620" y="909320"/>
                  </a:cubicBezTo>
                  <a:cubicBezTo>
                    <a:pt x="732790" y="901700"/>
                    <a:pt x="716280" y="885190"/>
                    <a:pt x="697230" y="868680"/>
                  </a:cubicBezTo>
                  <a:cubicBezTo>
                    <a:pt x="681990" y="854710"/>
                    <a:pt x="678180" y="826770"/>
                    <a:pt x="661670" y="817880"/>
                  </a:cubicBezTo>
                  <a:cubicBezTo>
                    <a:pt x="646430" y="808990"/>
                    <a:pt x="627380" y="817880"/>
                    <a:pt x="605790" y="814070"/>
                  </a:cubicBezTo>
                  <a:cubicBezTo>
                    <a:pt x="576580" y="807720"/>
                    <a:pt x="546100" y="783590"/>
                    <a:pt x="504190" y="775970"/>
                  </a:cubicBezTo>
                  <a:cubicBezTo>
                    <a:pt x="444500" y="764540"/>
                    <a:pt x="351790" y="784860"/>
                    <a:pt x="276860" y="773430"/>
                  </a:cubicBezTo>
                  <a:cubicBezTo>
                    <a:pt x="203200" y="760730"/>
                    <a:pt x="102870" y="730250"/>
                    <a:pt x="62230" y="706120"/>
                  </a:cubicBezTo>
                  <a:cubicBezTo>
                    <a:pt x="41910" y="693420"/>
                    <a:pt x="33020" y="688340"/>
                    <a:pt x="22860" y="668020"/>
                  </a:cubicBezTo>
                  <a:cubicBezTo>
                    <a:pt x="5080" y="629920"/>
                    <a:pt x="0" y="528320"/>
                    <a:pt x="6350" y="477520"/>
                  </a:cubicBezTo>
                  <a:cubicBezTo>
                    <a:pt x="10160" y="443230"/>
                    <a:pt x="15240" y="417830"/>
                    <a:pt x="33020" y="392430"/>
                  </a:cubicBezTo>
                  <a:cubicBezTo>
                    <a:pt x="54610" y="364490"/>
                    <a:pt x="96520" y="337820"/>
                    <a:pt x="134620" y="321310"/>
                  </a:cubicBezTo>
                  <a:cubicBezTo>
                    <a:pt x="172720" y="306070"/>
                    <a:pt x="222250" y="314960"/>
                    <a:pt x="259080" y="299720"/>
                  </a:cubicBezTo>
                  <a:cubicBezTo>
                    <a:pt x="294640" y="285750"/>
                    <a:pt x="320040" y="267970"/>
                    <a:pt x="351790" y="236220"/>
                  </a:cubicBezTo>
                  <a:cubicBezTo>
                    <a:pt x="402590" y="186690"/>
                    <a:pt x="473710" y="36830"/>
                    <a:pt x="511810" y="11430"/>
                  </a:cubicBezTo>
                  <a:cubicBezTo>
                    <a:pt x="524510" y="2540"/>
                    <a:pt x="534670" y="0"/>
                    <a:pt x="546100" y="2540"/>
                  </a:cubicBezTo>
                  <a:cubicBezTo>
                    <a:pt x="563880" y="7620"/>
                    <a:pt x="601980" y="49530"/>
                    <a:pt x="600710" y="52070"/>
                  </a:cubicBezTo>
                  <a:cubicBezTo>
                    <a:pt x="598170" y="54610"/>
                    <a:pt x="556260" y="38100"/>
                    <a:pt x="548640" y="29210"/>
                  </a:cubicBezTo>
                  <a:cubicBezTo>
                    <a:pt x="543560" y="24130"/>
                    <a:pt x="547370" y="15240"/>
                    <a:pt x="543560" y="13970"/>
                  </a:cubicBezTo>
                  <a:cubicBezTo>
                    <a:pt x="538480" y="11430"/>
                    <a:pt x="528320" y="13970"/>
                    <a:pt x="518160" y="21590"/>
                  </a:cubicBezTo>
                  <a:cubicBezTo>
                    <a:pt x="486410" y="45720"/>
                    <a:pt x="408940" y="196850"/>
                    <a:pt x="358140" y="246380"/>
                  </a:cubicBezTo>
                  <a:cubicBezTo>
                    <a:pt x="325120" y="279400"/>
                    <a:pt x="297180" y="298450"/>
                    <a:pt x="261620" y="312420"/>
                  </a:cubicBezTo>
                  <a:cubicBezTo>
                    <a:pt x="224790" y="326390"/>
                    <a:pt x="179070" y="317500"/>
                    <a:pt x="142240" y="331470"/>
                  </a:cubicBezTo>
                  <a:cubicBezTo>
                    <a:pt x="106680" y="345440"/>
                    <a:pt x="64770" y="372110"/>
                    <a:pt x="43180" y="397510"/>
                  </a:cubicBezTo>
                  <a:cubicBezTo>
                    <a:pt x="27940" y="419100"/>
                    <a:pt x="21590" y="440690"/>
                    <a:pt x="17780" y="466090"/>
                  </a:cubicBezTo>
                  <a:cubicBezTo>
                    <a:pt x="12700" y="497840"/>
                    <a:pt x="16510" y="538480"/>
                    <a:pt x="20320" y="572770"/>
                  </a:cubicBezTo>
                  <a:cubicBezTo>
                    <a:pt x="22860" y="605790"/>
                    <a:pt x="25400" y="650240"/>
                    <a:pt x="36830" y="670560"/>
                  </a:cubicBezTo>
                  <a:cubicBezTo>
                    <a:pt x="44450" y="681990"/>
                    <a:pt x="49530" y="685800"/>
                    <a:pt x="63500" y="693420"/>
                  </a:cubicBezTo>
                  <a:cubicBezTo>
                    <a:pt x="100330" y="713740"/>
                    <a:pt x="204470" y="749300"/>
                    <a:pt x="278130" y="760730"/>
                  </a:cubicBezTo>
                  <a:cubicBezTo>
                    <a:pt x="351790" y="772160"/>
                    <a:pt x="447040" y="751840"/>
                    <a:pt x="506730" y="763270"/>
                  </a:cubicBezTo>
                  <a:cubicBezTo>
                    <a:pt x="547370" y="770890"/>
                    <a:pt x="577850" y="795020"/>
                    <a:pt x="607060" y="801370"/>
                  </a:cubicBezTo>
                  <a:cubicBezTo>
                    <a:pt x="627380" y="805180"/>
                    <a:pt x="641350" y="796290"/>
                    <a:pt x="660400" y="805180"/>
                  </a:cubicBezTo>
                  <a:cubicBezTo>
                    <a:pt x="689610" y="817880"/>
                    <a:pt x="706120" y="878840"/>
                    <a:pt x="756920" y="896620"/>
                  </a:cubicBezTo>
                  <a:cubicBezTo>
                    <a:pt x="848360" y="928370"/>
                    <a:pt x="1118870" y="862330"/>
                    <a:pt x="1214120" y="849630"/>
                  </a:cubicBezTo>
                  <a:cubicBezTo>
                    <a:pt x="1258570" y="843280"/>
                    <a:pt x="1276350" y="843280"/>
                    <a:pt x="1310640" y="833120"/>
                  </a:cubicBezTo>
                  <a:cubicBezTo>
                    <a:pt x="1353820" y="821690"/>
                    <a:pt x="1413510" y="782320"/>
                    <a:pt x="1447800" y="773430"/>
                  </a:cubicBezTo>
                  <a:cubicBezTo>
                    <a:pt x="1465580" y="768350"/>
                    <a:pt x="1474470" y="775970"/>
                    <a:pt x="1492250" y="768350"/>
                  </a:cubicBezTo>
                  <a:cubicBezTo>
                    <a:pt x="1525270" y="754380"/>
                    <a:pt x="1606550" y="692150"/>
                    <a:pt x="1623060" y="659130"/>
                  </a:cubicBezTo>
                  <a:cubicBezTo>
                    <a:pt x="1631950" y="641350"/>
                    <a:pt x="1617980" y="624840"/>
                    <a:pt x="1624330" y="608330"/>
                  </a:cubicBezTo>
                  <a:cubicBezTo>
                    <a:pt x="1633220" y="585470"/>
                    <a:pt x="1666240" y="558800"/>
                    <a:pt x="1677670" y="537210"/>
                  </a:cubicBezTo>
                  <a:cubicBezTo>
                    <a:pt x="1685290" y="523240"/>
                    <a:pt x="1689100" y="511810"/>
                    <a:pt x="1690370" y="496570"/>
                  </a:cubicBezTo>
                  <a:cubicBezTo>
                    <a:pt x="1692910" y="477520"/>
                    <a:pt x="1691640" y="454660"/>
                    <a:pt x="1686560" y="429260"/>
                  </a:cubicBezTo>
                  <a:cubicBezTo>
                    <a:pt x="1678940" y="393700"/>
                    <a:pt x="1662430" y="342900"/>
                    <a:pt x="1643380" y="304800"/>
                  </a:cubicBezTo>
                  <a:cubicBezTo>
                    <a:pt x="1625600" y="266700"/>
                    <a:pt x="1605280" y="229870"/>
                    <a:pt x="1576070" y="196850"/>
                  </a:cubicBezTo>
                  <a:cubicBezTo>
                    <a:pt x="1544320" y="161290"/>
                    <a:pt x="1501140" y="127000"/>
                    <a:pt x="1460500" y="99060"/>
                  </a:cubicBezTo>
                  <a:cubicBezTo>
                    <a:pt x="1419860" y="69850"/>
                    <a:pt x="1384300" y="40640"/>
                    <a:pt x="1330960" y="25400"/>
                  </a:cubicBezTo>
                  <a:cubicBezTo>
                    <a:pt x="1256030" y="3810"/>
                    <a:pt x="1150620" y="13970"/>
                    <a:pt x="1046480" y="12700"/>
                  </a:cubicBezTo>
                  <a:cubicBezTo>
                    <a:pt x="919480" y="11430"/>
                    <a:pt x="643890" y="46990"/>
                    <a:pt x="623570" y="26670"/>
                  </a:cubicBezTo>
                  <a:cubicBezTo>
                    <a:pt x="619760" y="22860"/>
                    <a:pt x="623570" y="13970"/>
                    <a:pt x="623570" y="13970"/>
                  </a:cubicBezTo>
                </a:path>
              </a:pathLst>
            </a:custGeom>
            <a:solidFill>
              <a:srgbClr val="F5EC2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67" name="Group 67"/>
          <p:cNvGrpSpPr/>
          <p:nvPr/>
        </p:nvGrpSpPr>
        <p:grpSpPr>
          <a:xfrm>
            <a:off x="2107498" y="5377476"/>
            <a:ext cx="615923" cy="223462"/>
            <a:chOff x="0" y="0"/>
            <a:chExt cx="1809750" cy="656590"/>
          </a:xfrm>
        </p:grpSpPr>
        <p:sp>
          <p:nvSpPr>
            <p:cNvPr id="68" name="Freeform 68"/>
            <p:cNvSpPr/>
            <p:nvPr/>
          </p:nvSpPr>
          <p:spPr>
            <a:xfrm>
              <a:off x="29210" y="27940"/>
              <a:ext cx="1741170" cy="586740"/>
            </a:xfrm>
            <a:custGeom>
              <a:avLst/>
              <a:gdLst/>
              <a:ahLst/>
              <a:cxnLst/>
              <a:rect l="l" t="t" r="r" b="b"/>
              <a:pathLst>
                <a:path w="1741170" h="586740">
                  <a:moveTo>
                    <a:pt x="34290" y="123190"/>
                  </a:moveTo>
                  <a:cubicBezTo>
                    <a:pt x="74930" y="492760"/>
                    <a:pt x="182880" y="495300"/>
                    <a:pt x="266700" y="508000"/>
                  </a:cubicBezTo>
                  <a:cubicBezTo>
                    <a:pt x="360680" y="521970"/>
                    <a:pt x="521970" y="523240"/>
                    <a:pt x="568960" y="510540"/>
                  </a:cubicBezTo>
                  <a:cubicBezTo>
                    <a:pt x="584200" y="505460"/>
                    <a:pt x="584200" y="497840"/>
                    <a:pt x="596900" y="492760"/>
                  </a:cubicBezTo>
                  <a:cubicBezTo>
                    <a:pt x="622300" y="482600"/>
                    <a:pt x="659130" y="477520"/>
                    <a:pt x="708660" y="472440"/>
                  </a:cubicBezTo>
                  <a:cubicBezTo>
                    <a:pt x="808990" y="459740"/>
                    <a:pt x="1064260" y="431800"/>
                    <a:pt x="1159510" y="441960"/>
                  </a:cubicBezTo>
                  <a:cubicBezTo>
                    <a:pt x="1203960" y="447040"/>
                    <a:pt x="1234440" y="458470"/>
                    <a:pt x="1256030" y="469900"/>
                  </a:cubicBezTo>
                  <a:cubicBezTo>
                    <a:pt x="1268730" y="477520"/>
                    <a:pt x="1270000" y="487680"/>
                    <a:pt x="1283970" y="492760"/>
                  </a:cubicBezTo>
                  <a:cubicBezTo>
                    <a:pt x="1311910" y="505460"/>
                    <a:pt x="1380490" y="499110"/>
                    <a:pt x="1418590" y="510540"/>
                  </a:cubicBezTo>
                  <a:cubicBezTo>
                    <a:pt x="1450340" y="519430"/>
                    <a:pt x="1466850" y="538480"/>
                    <a:pt x="1498600" y="547370"/>
                  </a:cubicBezTo>
                  <a:cubicBezTo>
                    <a:pt x="1541780" y="560070"/>
                    <a:pt x="1637030" y="574040"/>
                    <a:pt x="1661160" y="563880"/>
                  </a:cubicBezTo>
                  <a:cubicBezTo>
                    <a:pt x="1668780" y="561340"/>
                    <a:pt x="1671320" y="557530"/>
                    <a:pt x="1675130" y="548640"/>
                  </a:cubicBezTo>
                  <a:cubicBezTo>
                    <a:pt x="1681480" y="532130"/>
                    <a:pt x="1672590" y="490220"/>
                    <a:pt x="1678940" y="458470"/>
                  </a:cubicBezTo>
                  <a:cubicBezTo>
                    <a:pt x="1685290" y="417830"/>
                    <a:pt x="1731010" y="359410"/>
                    <a:pt x="1719580" y="325120"/>
                  </a:cubicBezTo>
                  <a:cubicBezTo>
                    <a:pt x="1708150" y="292100"/>
                    <a:pt x="1649730" y="281940"/>
                    <a:pt x="1620520" y="252730"/>
                  </a:cubicBezTo>
                  <a:cubicBezTo>
                    <a:pt x="1590040" y="222250"/>
                    <a:pt x="1573530" y="166370"/>
                    <a:pt x="1539240" y="146050"/>
                  </a:cubicBezTo>
                  <a:cubicBezTo>
                    <a:pt x="1507490" y="127000"/>
                    <a:pt x="1468120" y="133350"/>
                    <a:pt x="1423670" y="129540"/>
                  </a:cubicBezTo>
                  <a:cubicBezTo>
                    <a:pt x="1360170" y="125730"/>
                    <a:pt x="1264920" y="139700"/>
                    <a:pt x="1196340" y="129540"/>
                  </a:cubicBezTo>
                  <a:cubicBezTo>
                    <a:pt x="1135380" y="119380"/>
                    <a:pt x="1098550" y="86360"/>
                    <a:pt x="1031240" y="76200"/>
                  </a:cubicBezTo>
                  <a:cubicBezTo>
                    <a:pt x="933450" y="60960"/>
                    <a:pt x="736600" y="87630"/>
                    <a:pt x="662940" y="74930"/>
                  </a:cubicBezTo>
                  <a:cubicBezTo>
                    <a:pt x="629920" y="68580"/>
                    <a:pt x="626110" y="55880"/>
                    <a:pt x="593090" y="49530"/>
                  </a:cubicBezTo>
                  <a:cubicBezTo>
                    <a:pt x="518160" y="35560"/>
                    <a:pt x="287020" y="10160"/>
                    <a:pt x="217170" y="33020"/>
                  </a:cubicBezTo>
                  <a:cubicBezTo>
                    <a:pt x="184150" y="43180"/>
                    <a:pt x="176530" y="69850"/>
                    <a:pt x="153670" y="80010"/>
                  </a:cubicBezTo>
                  <a:cubicBezTo>
                    <a:pt x="132080" y="91440"/>
                    <a:pt x="100330" y="83820"/>
                    <a:pt x="81280" y="97790"/>
                  </a:cubicBezTo>
                  <a:cubicBezTo>
                    <a:pt x="62230" y="113030"/>
                    <a:pt x="43180" y="171450"/>
                    <a:pt x="40640" y="170180"/>
                  </a:cubicBezTo>
                  <a:cubicBezTo>
                    <a:pt x="38100" y="168910"/>
                    <a:pt x="43180" y="119380"/>
                    <a:pt x="59690" y="101600"/>
                  </a:cubicBezTo>
                  <a:cubicBezTo>
                    <a:pt x="81280" y="77470"/>
                    <a:pt x="148590" y="74930"/>
                    <a:pt x="175260" y="58420"/>
                  </a:cubicBezTo>
                  <a:cubicBezTo>
                    <a:pt x="193040" y="46990"/>
                    <a:pt x="191770" y="30480"/>
                    <a:pt x="212090" y="22860"/>
                  </a:cubicBezTo>
                  <a:cubicBezTo>
                    <a:pt x="271780" y="0"/>
                    <a:pt x="527050" y="20320"/>
                    <a:pt x="596900" y="38100"/>
                  </a:cubicBezTo>
                  <a:cubicBezTo>
                    <a:pt x="623570" y="44450"/>
                    <a:pt x="623570" y="57150"/>
                    <a:pt x="651510" y="63500"/>
                  </a:cubicBezTo>
                  <a:cubicBezTo>
                    <a:pt x="720090" y="78740"/>
                    <a:pt x="933450" y="46990"/>
                    <a:pt x="1032510" y="63500"/>
                  </a:cubicBezTo>
                  <a:cubicBezTo>
                    <a:pt x="1099820" y="73660"/>
                    <a:pt x="1131570" y="104140"/>
                    <a:pt x="1196340" y="116840"/>
                  </a:cubicBezTo>
                  <a:cubicBezTo>
                    <a:pt x="1287780" y="133350"/>
                    <a:pt x="1483360" y="120650"/>
                    <a:pt x="1531620" y="132080"/>
                  </a:cubicBezTo>
                  <a:cubicBezTo>
                    <a:pt x="1545590" y="134620"/>
                    <a:pt x="1548130" y="134620"/>
                    <a:pt x="1557020" y="142240"/>
                  </a:cubicBezTo>
                  <a:cubicBezTo>
                    <a:pt x="1578610" y="160020"/>
                    <a:pt x="1610360" y="224790"/>
                    <a:pt x="1640840" y="256540"/>
                  </a:cubicBezTo>
                  <a:cubicBezTo>
                    <a:pt x="1667510" y="283210"/>
                    <a:pt x="1719580" y="290830"/>
                    <a:pt x="1729740" y="321310"/>
                  </a:cubicBezTo>
                  <a:cubicBezTo>
                    <a:pt x="1741170" y="355600"/>
                    <a:pt x="1697990" y="416560"/>
                    <a:pt x="1690370" y="458470"/>
                  </a:cubicBezTo>
                  <a:cubicBezTo>
                    <a:pt x="1685290" y="492760"/>
                    <a:pt x="1695450" y="534670"/>
                    <a:pt x="1686560" y="554990"/>
                  </a:cubicBezTo>
                  <a:cubicBezTo>
                    <a:pt x="1680210" y="566420"/>
                    <a:pt x="1675130" y="572770"/>
                    <a:pt x="1661160" y="576580"/>
                  </a:cubicBezTo>
                  <a:cubicBezTo>
                    <a:pt x="1631950" y="586740"/>
                    <a:pt x="1540510" y="572770"/>
                    <a:pt x="1496060" y="560070"/>
                  </a:cubicBezTo>
                  <a:cubicBezTo>
                    <a:pt x="1463040" y="551180"/>
                    <a:pt x="1446530" y="530860"/>
                    <a:pt x="1414780" y="520700"/>
                  </a:cubicBezTo>
                  <a:cubicBezTo>
                    <a:pt x="1376680" y="509270"/>
                    <a:pt x="1306830" y="516890"/>
                    <a:pt x="1280160" y="505460"/>
                  </a:cubicBezTo>
                  <a:cubicBezTo>
                    <a:pt x="1264920" y="499110"/>
                    <a:pt x="1264920" y="487680"/>
                    <a:pt x="1250950" y="480060"/>
                  </a:cubicBezTo>
                  <a:cubicBezTo>
                    <a:pt x="1230630" y="468630"/>
                    <a:pt x="1201420" y="459740"/>
                    <a:pt x="1158240" y="454660"/>
                  </a:cubicBezTo>
                  <a:cubicBezTo>
                    <a:pt x="1065530" y="444500"/>
                    <a:pt x="810260" y="472440"/>
                    <a:pt x="712470" y="483870"/>
                  </a:cubicBezTo>
                  <a:cubicBezTo>
                    <a:pt x="664210" y="490220"/>
                    <a:pt x="629920" y="494030"/>
                    <a:pt x="604520" y="502920"/>
                  </a:cubicBezTo>
                  <a:cubicBezTo>
                    <a:pt x="589280" y="508000"/>
                    <a:pt x="588010" y="518160"/>
                    <a:pt x="568960" y="523240"/>
                  </a:cubicBezTo>
                  <a:cubicBezTo>
                    <a:pt x="519430" y="535940"/>
                    <a:pt x="365760" y="533400"/>
                    <a:pt x="276860" y="521970"/>
                  </a:cubicBezTo>
                  <a:cubicBezTo>
                    <a:pt x="198120" y="511810"/>
                    <a:pt x="97790" y="483870"/>
                    <a:pt x="57150" y="464820"/>
                  </a:cubicBezTo>
                  <a:cubicBezTo>
                    <a:pt x="40640" y="457200"/>
                    <a:pt x="31750" y="457200"/>
                    <a:pt x="22860" y="440690"/>
                  </a:cubicBezTo>
                  <a:cubicBezTo>
                    <a:pt x="0" y="396240"/>
                    <a:pt x="3810" y="139700"/>
                    <a:pt x="21590" y="123190"/>
                  </a:cubicBezTo>
                  <a:cubicBezTo>
                    <a:pt x="25400" y="119380"/>
                    <a:pt x="34290" y="123190"/>
                    <a:pt x="34290" y="123190"/>
                  </a:cubicBezTo>
                </a:path>
              </a:pathLst>
            </a:custGeom>
            <a:solidFill>
              <a:srgbClr val="D31E05"/>
            </a:solidFill>
            <a:ln cap="sq">
              <a:noFill/>
              <a:prstDash val="solid"/>
              <a:miter/>
            </a:ln>
          </p:spPr>
        </p:sp>
      </p:grpSp>
      <p:sp>
        <p:nvSpPr>
          <p:cNvPr id="69" name="AutoShape 69"/>
          <p:cNvSpPr/>
          <p:nvPr/>
        </p:nvSpPr>
        <p:spPr>
          <a:xfrm>
            <a:off x="2495434" y="5690189"/>
            <a:ext cx="35399" cy="142215"/>
          </a:xfrm>
          <a:prstGeom prst="line">
            <a:avLst/>
          </a:prstGeom>
          <a:ln w="9525" cap="flat">
            <a:solidFill>
              <a:srgbClr val="F5EC2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70" name="AutoShape 70"/>
          <p:cNvSpPr/>
          <p:nvPr/>
        </p:nvSpPr>
        <p:spPr>
          <a:xfrm flipH="1" flipV="1">
            <a:off x="1794322" y="5405797"/>
            <a:ext cx="314763" cy="26028"/>
          </a:xfrm>
          <a:prstGeom prst="line">
            <a:avLst/>
          </a:prstGeom>
          <a:ln w="9525" cap="flat">
            <a:solidFill>
              <a:srgbClr val="D31E05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71" name="AutoShape 71"/>
          <p:cNvSpPr/>
          <p:nvPr/>
        </p:nvSpPr>
        <p:spPr>
          <a:xfrm>
            <a:off x="2384079" y="6406340"/>
            <a:ext cx="356815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72" name="Freeform 72"/>
          <p:cNvSpPr/>
          <p:nvPr/>
        </p:nvSpPr>
        <p:spPr>
          <a:xfrm>
            <a:off x="2075774" y="5893279"/>
            <a:ext cx="379492" cy="274782"/>
          </a:xfrm>
          <a:custGeom>
            <a:avLst/>
            <a:gdLst/>
            <a:ahLst/>
            <a:cxnLst/>
            <a:rect l="l" t="t" r="r" b="b"/>
            <a:pathLst>
              <a:path w="836287" h="605539">
                <a:moveTo>
                  <a:pt x="0" y="0"/>
                </a:moveTo>
                <a:lnTo>
                  <a:pt x="836287" y="0"/>
                </a:lnTo>
                <a:lnTo>
                  <a:pt x="836287" y="605538"/>
                </a:lnTo>
                <a:lnTo>
                  <a:pt x="0" y="60553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3527" b="-155012"/>
            </a:stretch>
          </a:blipFill>
        </p:spPr>
      </p:sp>
      <p:sp>
        <p:nvSpPr>
          <p:cNvPr id="73" name="Freeform 73"/>
          <p:cNvSpPr/>
          <p:nvPr/>
        </p:nvSpPr>
        <p:spPr>
          <a:xfrm>
            <a:off x="2766474" y="5309082"/>
            <a:ext cx="901310" cy="625058"/>
          </a:xfrm>
          <a:custGeom>
            <a:avLst/>
            <a:gdLst/>
            <a:ahLst/>
            <a:cxnLst/>
            <a:rect l="l" t="t" r="r" b="b"/>
            <a:pathLst>
              <a:path w="1738583" h="1358914">
                <a:moveTo>
                  <a:pt x="0" y="0"/>
                </a:moveTo>
                <a:lnTo>
                  <a:pt x="1738583" y="0"/>
                </a:lnTo>
                <a:lnTo>
                  <a:pt x="1738583" y="1358914"/>
                </a:lnTo>
                <a:lnTo>
                  <a:pt x="0" y="135891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4639" b="-121301"/>
            </a:stretch>
          </a:blipFill>
        </p:spPr>
      </p:sp>
      <p:sp>
        <p:nvSpPr>
          <p:cNvPr id="74" name="TextBox 74"/>
          <p:cNvSpPr txBox="1"/>
          <p:nvPr/>
        </p:nvSpPr>
        <p:spPr>
          <a:xfrm>
            <a:off x="1595131" y="4413868"/>
            <a:ext cx="996320" cy="197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"/>
              </a:lnSpc>
            </a:pPr>
            <a:r>
              <a:rPr lang="en-US" sz="623" b="1" dirty="0" err="1">
                <a:solidFill>
                  <a:srgbClr val="3B393F"/>
                </a:solidFill>
                <a:latin typeface="Garet Bold"/>
                <a:ea typeface="Garet Bold"/>
                <a:cs typeface="Garet Bold"/>
                <a:sym typeface="Garet Bold"/>
              </a:rPr>
              <a:t>D’où</a:t>
            </a:r>
            <a:r>
              <a:rPr lang="en-US" sz="623" b="1" dirty="0">
                <a:solidFill>
                  <a:srgbClr val="3B393F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623" b="1" dirty="0" err="1">
                <a:solidFill>
                  <a:srgbClr val="3B393F"/>
                </a:solidFill>
                <a:latin typeface="Garet Bold"/>
                <a:ea typeface="Garet Bold"/>
                <a:cs typeface="Garet Bold"/>
                <a:sym typeface="Garet Bold"/>
              </a:rPr>
              <a:t>est</a:t>
            </a:r>
            <a:r>
              <a:rPr lang="en-US" sz="623" b="1" dirty="0">
                <a:solidFill>
                  <a:srgbClr val="3B393F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623" b="1" dirty="0" err="1">
                <a:solidFill>
                  <a:srgbClr val="3B393F"/>
                </a:solidFill>
                <a:latin typeface="Garet Bold"/>
                <a:ea typeface="Garet Bold"/>
                <a:cs typeface="Garet Bold"/>
                <a:sym typeface="Garet Bold"/>
              </a:rPr>
              <a:t>ce</a:t>
            </a:r>
            <a:r>
              <a:rPr lang="en-US" sz="623" b="1" dirty="0">
                <a:solidFill>
                  <a:srgbClr val="3B393F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623" b="1" dirty="0" err="1">
                <a:solidFill>
                  <a:srgbClr val="3B393F"/>
                </a:solidFill>
                <a:latin typeface="Garet Bold"/>
                <a:ea typeface="Garet Bold"/>
                <a:cs typeface="Garet Bold"/>
                <a:sym typeface="Garet Bold"/>
              </a:rPr>
              <a:t>qu’on</a:t>
            </a:r>
            <a:r>
              <a:rPr lang="en-US" sz="623" b="1" dirty="0">
                <a:solidFill>
                  <a:srgbClr val="3B393F"/>
                </a:solidFill>
                <a:latin typeface="Garet Bold"/>
                <a:ea typeface="Garet Bold"/>
                <a:cs typeface="Garet Bold"/>
                <a:sym typeface="Garet Bold"/>
              </a:rPr>
              <a:t> part ?</a:t>
            </a:r>
          </a:p>
          <a:p>
            <a:pPr algn="ctr">
              <a:lnSpc>
                <a:spcPts val="779"/>
              </a:lnSpc>
            </a:pPr>
            <a:endParaRPr lang="en-US" sz="623" b="1" dirty="0">
              <a:solidFill>
                <a:srgbClr val="3B393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75" name="TextBox 75"/>
          <p:cNvSpPr txBox="1"/>
          <p:nvPr/>
        </p:nvSpPr>
        <p:spPr>
          <a:xfrm>
            <a:off x="1237088" y="5136299"/>
            <a:ext cx="603776" cy="205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"/>
              </a:lnSpc>
              <a:spcBef>
                <a:spcPct val="0"/>
              </a:spcBef>
            </a:pPr>
            <a:r>
              <a:rPr lang="en-US" sz="4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Substrat</a:t>
            </a:r>
            <a:r>
              <a:rPr lang="en-US" sz="4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4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filtrant</a:t>
            </a:r>
            <a:r>
              <a:rPr lang="en-US" sz="4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4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</a:t>
            </a:r>
            <a:r>
              <a:rPr lang="en-US" sz="4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4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céramique</a:t>
            </a:r>
            <a:endParaRPr lang="en-US" sz="4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401"/>
              </a:lnSpc>
              <a:spcBef>
                <a:spcPct val="0"/>
              </a:spcBef>
            </a:pPr>
            <a:r>
              <a:rPr lang="en-US" sz="4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4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utilisé</a:t>
            </a:r>
            <a:r>
              <a:rPr lang="en-US" sz="4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pour </a:t>
            </a:r>
            <a:r>
              <a:rPr lang="en-US" sz="4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capter</a:t>
            </a:r>
            <a:r>
              <a:rPr lang="en-US" sz="4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les </a:t>
            </a:r>
          </a:p>
          <a:p>
            <a:pPr algn="ctr">
              <a:lnSpc>
                <a:spcPts val="401"/>
              </a:lnSpc>
              <a:spcBef>
                <a:spcPct val="0"/>
              </a:spcBef>
            </a:pPr>
            <a:r>
              <a:rPr lang="en-US" sz="4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particules</a:t>
            </a:r>
            <a:r>
              <a:rPr lang="en-US" sz="4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fines des </a:t>
            </a:r>
            <a:r>
              <a:rPr lang="en-US" sz="4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moteurs</a:t>
            </a:r>
            <a:r>
              <a:rPr lang="en-US" sz="4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941421" y="6212459"/>
            <a:ext cx="705298" cy="4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"/>
              </a:lnSpc>
              <a:spcBef>
                <a:spcPct val="0"/>
              </a:spcBef>
            </a:pPr>
            <a:r>
              <a:rPr lang="en-US" sz="317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ZIF-8 (2-Methylimidazole zinc salt)</a:t>
            </a:r>
          </a:p>
        </p:txBody>
      </p:sp>
      <p:sp>
        <p:nvSpPr>
          <p:cNvPr id="79" name="Freeform 79"/>
          <p:cNvSpPr/>
          <p:nvPr/>
        </p:nvSpPr>
        <p:spPr>
          <a:xfrm>
            <a:off x="1232144" y="5563085"/>
            <a:ext cx="584190" cy="689967"/>
          </a:xfrm>
          <a:custGeom>
            <a:avLst/>
            <a:gdLst/>
            <a:ahLst/>
            <a:cxnLst/>
            <a:rect l="l" t="t" r="r" b="b"/>
            <a:pathLst>
              <a:path w="1287381" h="1520483">
                <a:moveTo>
                  <a:pt x="0" y="0"/>
                </a:moveTo>
                <a:lnTo>
                  <a:pt x="1287380" y="0"/>
                </a:lnTo>
                <a:lnTo>
                  <a:pt x="1287380" y="1520483"/>
                </a:lnTo>
                <a:lnTo>
                  <a:pt x="0" y="152048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t="-6446" b="-6446"/>
            </a:stretch>
          </a:blipFill>
        </p:spPr>
      </p:sp>
      <p:grpSp>
        <p:nvGrpSpPr>
          <p:cNvPr id="85" name="Group 85"/>
          <p:cNvGrpSpPr/>
          <p:nvPr/>
        </p:nvGrpSpPr>
        <p:grpSpPr>
          <a:xfrm>
            <a:off x="1155590" y="2724158"/>
            <a:ext cx="2553652" cy="1017070"/>
            <a:chOff x="0" y="0"/>
            <a:chExt cx="6855939" cy="2988429"/>
          </a:xfrm>
        </p:grpSpPr>
        <p:grpSp>
          <p:nvGrpSpPr>
            <p:cNvPr id="86" name="Group 86"/>
            <p:cNvGrpSpPr/>
            <p:nvPr/>
          </p:nvGrpSpPr>
          <p:grpSpPr>
            <a:xfrm>
              <a:off x="862094" y="0"/>
              <a:ext cx="4899697" cy="1107983"/>
              <a:chOff x="0" y="0"/>
              <a:chExt cx="1416389" cy="320292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0" y="0"/>
                <a:ext cx="1416389" cy="320292"/>
              </a:xfrm>
              <a:custGeom>
                <a:avLst/>
                <a:gdLst/>
                <a:ahLst/>
                <a:cxnLst/>
                <a:rect l="l" t="t" r="r" b="b"/>
                <a:pathLst>
                  <a:path w="1416389" h="320292">
                    <a:moveTo>
                      <a:pt x="147474" y="0"/>
                    </a:moveTo>
                    <a:lnTo>
                      <a:pt x="1268915" y="0"/>
                    </a:lnTo>
                    <a:cubicBezTo>
                      <a:pt x="1350362" y="0"/>
                      <a:pt x="1416389" y="66026"/>
                      <a:pt x="1416389" y="147474"/>
                    </a:cubicBezTo>
                    <a:lnTo>
                      <a:pt x="1416389" y="172818"/>
                    </a:lnTo>
                    <a:cubicBezTo>
                      <a:pt x="1416389" y="211930"/>
                      <a:pt x="1400851" y="249441"/>
                      <a:pt x="1373195" y="277098"/>
                    </a:cubicBezTo>
                    <a:cubicBezTo>
                      <a:pt x="1345538" y="304755"/>
                      <a:pt x="1308027" y="320292"/>
                      <a:pt x="1268915" y="320292"/>
                    </a:cubicBezTo>
                    <a:lnTo>
                      <a:pt x="147474" y="320292"/>
                    </a:lnTo>
                    <a:cubicBezTo>
                      <a:pt x="108362" y="320292"/>
                      <a:pt x="70851" y="304755"/>
                      <a:pt x="43194" y="277098"/>
                    </a:cubicBezTo>
                    <a:cubicBezTo>
                      <a:pt x="15537" y="249441"/>
                      <a:pt x="0" y="211930"/>
                      <a:pt x="0" y="172818"/>
                    </a:cubicBezTo>
                    <a:lnTo>
                      <a:pt x="0" y="147474"/>
                    </a:lnTo>
                    <a:cubicBezTo>
                      <a:pt x="0" y="108362"/>
                      <a:pt x="15537" y="70851"/>
                      <a:pt x="43194" y="43194"/>
                    </a:cubicBezTo>
                    <a:cubicBezTo>
                      <a:pt x="70851" y="15537"/>
                      <a:pt x="108362" y="0"/>
                      <a:pt x="147474" y="0"/>
                    </a:cubicBezTo>
                    <a:close/>
                  </a:path>
                </a:pathLst>
              </a:custGeom>
              <a:solidFill>
                <a:srgbClr val="EFD078"/>
              </a:solidFill>
              <a:ln w="28575" cap="rnd">
                <a:solidFill>
                  <a:srgbClr val="3B393F"/>
                </a:solidFill>
                <a:prstDash val="solid"/>
                <a:round/>
              </a:ln>
            </p:spPr>
          </p:sp>
          <p:sp>
            <p:nvSpPr>
              <p:cNvPr id="88" name="TextBox 88"/>
              <p:cNvSpPr txBox="1"/>
              <p:nvPr/>
            </p:nvSpPr>
            <p:spPr>
              <a:xfrm>
                <a:off x="0" y="-9525"/>
                <a:ext cx="1416389" cy="329817"/>
              </a:xfrm>
              <a:prstGeom prst="rect">
                <a:avLst/>
              </a:prstGeom>
            </p:spPr>
            <p:txBody>
              <a:bodyPr lIns="12298" tIns="12298" rIns="12298" bIns="12298" rtlCol="0" anchor="ctr"/>
              <a:lstStyle/>
              <a:p>
                <a:pPr>
                  <a:lnSpc>
                    <a:spcPts val="1985"/>
                  </a:lnSpc>
                  <a:spcBef>
                    <a:spcPct val="0"/>
                  </a:spcBef>
                </a:pPr>
                <a:r>
                  <a:rPr lang="en-US" sz="1588">
                    <a:solidFill>
                      <a:srgbClr val="000000"/>
                    </a:solidFill>
                    <a:latin typeface="Garet"/>
                    <a:ea typeface="Garet"/>
                    <a:cs typeface="Garet"/>
                    <a:sym typeface="Garet"/>
                  </a:rPr>
                  <a:t>   </a:t>
                </a:r>
              </a:p>
            </p:txBody>
          </p:sp>
        </p:grpSp>
        <p:grpSp>
          <p:nvGrpSpPr>
            <p:cNvPr id="89" name="Group 89"/>
            <p:cNvGrpSpPr/>
            <p:nvPr/>
          </p:nvGrpSpPr>
          <p:grpSpPr>
            <a:xfrm>
              <a:off x="0" y="1314021"/>
              <a:ext cx="6855938" cy="1674408"/>
              <a:chOff x="0" y="0"/>
              <a:chExt cx="921380" cy="225026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0" y="0"/>
                <a:ext cx="921380" cy="225026"/>
              </a:xfrm>
              <a:custGeom>
                <a:avLst/>
                <a:gdLst/>
                <a:ahLst/>
                <a:cxnLst/>
                <a:rect l="l" t="t" r="r" b="b"/>
                <a:pathLst>
                  <a:path w="921380" h="225026">
                    <a:moveTo>
                      <a:pt x="45169" y="0"/>
                    </a:moveTo>
                    <a:lnTo>
                      <a:pt x="876211" y="0"/>
                    </a:lnTo>
                    <a:cubicBezTo>
                      <a:pt x="888191" y="0"/>
                      <a:pt x="899679" y="4759"/>
                      <a:pt x="908150" y="13230"/>
                    </a:cubicBezTo>
                    <a:cubicBezTo>
                      <a:pt x="916621" y="21701"/>
                      <a:pt x="921380" y="33190"/>
                      <a:pt x="921380" y="45169"/>
                    </a:cubicBezTo>
                    <a:lnTo>
                      <a:pt x="921380" y="179857"/>
                    </a:lnTo>
                    <a:cubicBezTo>
                      <a:pt x="921380" y="191837"/>
                      <a:pt x="916621" y="203326"/>
                      <a:pt x="908150" y="211797"/>
                    </a:cubicBezTo>
                    <a:cubicBezTo>
                      <a:pt x="899679" y="220267"/>
                      <a:pt x="888191" y="225026"/>
                      <a:pt x="876211" y="225026"/>
                    </a:cubicBezTo>
                    <a:lnTo>
                      <a:pt x="45169" y="225026"/>
                    </a:lnTo>
                    <a:cubicBezTo>
                      <a:pt x="33190" y="225026"/>
                      <a:pt x="21701" y="220267"/>
                      <a:pt x="13230" y="211797"/>
                    </a:cubicBezTo>
                    <a:cubicBezTo>
                      <a:pt x="4759" y="203326"/>
                      <a:pt x="0" y="191837"/>
                      <a:pt x="0" y="179857"/>
                    </a:cubicBezTo>
                    <a:lnTo>
                      <a:pt x="0" y="45169"/>
                    </a:lnTo>
                    <a:cubicBezTo>
                      <a:pt x="0" y="33190"/>
                      <a:pt x="4759" y="21701"/>
                      <a:pt x="13230" y="13230"/>
                    </a:cubicBezTo>
                    <a:cubicBezTo>
                      <a:pt x="21701" y="4759"/>
                      <a:pt x="33190" y="0"/>
                      <a:pt x="45169" y="0"/>
                    </a:cubicBezTo>
                    <a:close/>
                  </a:path>
                </a:pathLst>
              </a:custGeom>
              <a:solidFill>
                <a:srgbClr val="FFE8A8"/>
              </a:solidFill>
              <a:ln w="28575" cap="rnd">
                <a:solidFill>
                  <a:srgbClr val="3B393F"/>
                </a:solidFill>
                <a:prstDash val="solid"/>
                <a:round/>
              </a:ln>
            </p:spPr>
          </p:sp>
          <p:sp>
            <p:nvSpPr>
              <p:cNvPr id="91" name="TextBox 91"/>
              <p:cNvSpPr txBox="1"/>
              <p:nvPr/>
            </p:nvSpPr>
            <p:spPr>
              <a:xfrm>
                <a:off x="0" y="-38100"/>
                <a:ext cx="921380" cy="263126"/>
              </a:xfrm>
              <a:prstGeom prst="rect">
                <a:avLst/>
              </a:prstGeom>
            </p:spPr>
            <p:txBody>
              <a:bodyPr lIns="23052" tIns="23052" rIns="23052" bIns="23052" rtlCol="0" anchor="ctr"/>
              <a:lstStyle/>
              <a:p>
                <a:pPr algn="ctr">
                  <a:lnSpc>
                    <a:spcPts val="2130"/>
                  </a:lnSpc>
                  <a:spcBef>
                    <a:spcPct val="0"/>
                  </a:spcBef>
                </a:pPr>
                <a:endParaRPr sz="817"/>
              </a:p>
            </p:txBody>
          </p:sp>
        </p:grpSp>
        <p:sp>
          <p:nvSpPr>
            <p:cNvPr id="92" name="TextBox 92"/>
            <p:cNvSpPr txBox="1"/>
            <p:nvPr/>
          </p:nvSpPr>
          <p:spPr>
            <a:xfrm>
              <a:off x="64621" y="1530258"/>
              <a:ext cx="6791318" cy="1184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794"/>
                </a:lnSpc>
              </a:pPr>
              <a:r>
                <a:rPr lang="en-US" sz="635">
                  <a:solidFill>
                    <a:srgbClr val="3B393F"/>
                  </a:solidFill>
                  <a:latin typeface="Garet"/>
                  <a:ea typeface="Garet"/>
                  <a:cs typeface="Garet"/>
                  <a:sym typeface="Garet"/>
                </a:rPr>
                <a:t>Comment peut-on parvenir à réduire d’avantage l’émission de CO2 des moteurs diesel et essence dans l’atmosphère grâce à une stratégie autant écolo qu'innovatrice ?</a:t>
              </a:r>
            </a:p>
            <a:p>
              <a:pPr>
                <a:lnSpc>
                  <a:spcPts val="794"/>
                </a:lnSpc>
              </a:pPr>
              <a:endParaRPr lang="en-US" sz="635">
                <a:solidFill>
                  <a:srgbClr val="3B393F"/>
                </a:solidFill>
                <a:latin typeface="Garet"/>
                <a:ea typeface="Garet"/>
                <a:cs typeface="Garet"/>
                <a:sym typeface="Garet"/>
              </a:endParaRP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88516" y="423523"/>
              <a:ext cx="5246856" cy="2805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94"/>
                </a:lnSpc>
              </a:pPr>
              <a:r>
                <a:rPr lang="en-US" sz="635" b="1">
                  <a:solidFill>
                    <a:srgbClr val="3B393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PROBLEME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8596565" y="3354239"/>
            <a:ext cx="2378449" cy="801275"/>
            <a:chOff x="0" y="0"/>
            <a:chExt cx="6988530" cy="2354362"/>
          </a:xfrm>
        </p:grpSpPr>
        <p:grpSp>
          <p:nvGrpSpPr>
            <p:cNvPr id="95" name="Group 95"/>
            <p:cNvGrpSpPr/>
            <p:nvPr/>
          </p:nvGrpSpPr>
          <p:grpSpPr>
            <a:xfrm>
              <a:off x="724829" y="0"/>
              <a:ext cx="5339876" cy="1104071"/>
              <a:chOff x="0" y="0"/>
              <a:chExt cx="1543634" cy="319161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0" y="0"/>
                <a:ext cx="1543634" cy="319161"/>
              </a:xfrm>
              <a:custGeom>
                <a:avLst/>
                <a:gdLst/>
                <a:ahLst/>
                <a:cxnLst/>
                <a:rect l="l" t="t" r="r" b="b"/>
                <a:pathLst>
                  <a:path w="1543634" h="319161">
                    <a:moveTo>
                      <a:pt x="135318" y="0"/>
                    </a:moveTo>
                    <a:lnTo>
                      <a:pt x="1408317" y="0"/>
                    </a:lnTo>
                    <a:cubicBezTo>
                      <a:pt x="1483051" y="0"/>
                      <a:pt x="1543634" y="60584"/>
                      <a:pt x="1543634" y="135318"/>
                    </a:cubicBezTo>
                    <a:lnTo>
                      <a:pt x="1543634" y="183844"/>
                    </a:lnTo>
                    <a:cubicBezTo>
                      <a:pt x="1543634" y="258578"/>
                      <a:pt x="1483051" y="319161"/>
                      <a:pt x="1408317" y="319161"/>
                    </a:cubicBezTo>
                    <a:lnTo>
                      <a:pt x="135318" y="319161"/>
                    </a:lnTo>
                    <a:cubicBezTo>
                      <a:pt x="60584" y="319161"/>
                      <a:pt x="0" y="258578"/>
                      <a:pt x="0" y="183844"/>
                    </a:cubicBezTo>
                    <a:lnTo>
                      <a:pt x="0" y="135318"/>
                    </a:lnTo>
                    <a:cubicBezTo>
                      <a:pt x="0" y="60584"/>
                      <a:pt x="60584" y="0"/>
                      <a:pt x="135318" y="0"/>
                    </a:cubicBezTo>
                    <a:close/>
                  </a:path>
                </a:pathLst>
              </a:custGeom>
              <a:solidFill>
                <a:srgbClr val="F28D79"/>
              </a:solidFill>
              <a:ln w="28575" cap="rnd">
                <a:solidFill>
                  <a:srgbClr val="3B393F"/>
                </a:solidFill>
                <a:prstDash val="solid"/>
                <a:round/>
              </a:ln>
            </p:spPr>
          </p:sp>
          <p:sp>
            <p:nvSpPr>
              <p:cNvPr id="97" name="TextBox 97"/>
              <p:cNvSpPr txBox="1"/>
              <p:nvPr/>
            </p:nvSpPr>
            <p:spPr>
              <a:xfrm>
                <a:off x="0" y="-9525"/>
                <a:ext cx="1543634" cy="328686"/>
              </a:xfrm>
              <a:prstGeom prst="rect">
                <a:avLst/>
              </a:prstGeom>
            </p:spPr>
            <p:txBody>
              <a:bodyPr lIns="12298" tIns="12298" rIns="12298" bIns="12298" rtlCol="0" anchor="ctr"/>
              <a:lstStyle/>
              <a:p>
                <a:pPr>
                  <a:lnSpc>
                    <a:spcPts val="1985"/>
                  </a:lnSpc>
                  <a:spcBef>
                    <a:spcPct val="0"/>
                  </a:spcBef>
                </a:pPr>
                <a:r>
                  <a:rPr lang="en-US" sz="1588">
                    <a:solidFill>
                      <a:srgbClr val="000000"/>
                    </a:solidFill>
                    <a:latin typeface="Garet"/>
                    <a:ea typeface="Garet"/>
                    <a:cs typeface="Garet"/>
                    <a:sym typeface="Garet"/>
                  </a:rPr>
                  <a:t>   </a:t>
                </a:r>
              </a:p>
            </p:txBody>
          </p:sp>
        </p:grpSp>
        <p:grpSp>
          <p:nvGrpSpPr>
            <p:cNvPr id="98" name="Group 98"/>
            <p:cNvGrpSpPr/>
            <p:nvPr/>
          </p:nvGrpSpPr>
          <p:grpSpPr>
            <a:xfrm>
              <a:off x="0" y="1238554"/>
              <a:ext cx="6988530" cy="1106359"/>
              <a:chOff x="0" y="0"/>
              <a:chExt cx="939199" cy="148685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0" y="0"/>
                <a:ext cx="939199" cy="148685"/>
              </a:xfrm>
              <a:custGeom>
                <a:avLst/>
                <a:gdLst/>
                <a:ahLst/>
                <a:cxnLst/>
                <a:rect l="l" t="t" r="r" b="b"/>
                <a:pathLst>
                  <a:path w="939199" h="148685">
                    <a:moveTo>
                      <a:pt x="44312" y="0"/>
                    </a:moveTo>
                    <a:lnTo>
                      <a:pt x="894887" y="0"/>
                    </a:lnTo>
                    <a:cubicBezTo>
                      <a:pt x="919360" y="0"/>
                      <a:pt x="939199" y="19839"/>
                      <a:pt x="939199" y="44312"/>
                    </a:cubicBezTo>
                    <a:lnTo>
                      <a:pt x="939199" y="104373"/>
                    </a:lnTo>
                    <a:cubicBezTo>
                      <a:pt x="939199" y="116125"/>
                      <a:pt x="934531" y="127396"/>
                      <a:pt x="926220" y="135706"/>
                    </a:cubicBezTo>
                    <a:cubicBezTo>
                      <a:pt x="917910" y="144017"/>
                      <a:pt x="906639" y="148685"/>
                      <a:pt x="894887" y="148685"/>
                    </a:cubicBezTo>
                    <a:lnTo>
                      <a:pt x="44312" y="148685"/>
                    </a:lnTo>
                    <a:cubicBezTo>
                      <a:pt x="19839" y="148685"/>
                      <a:pt x="0" y="128846"/>
                      <a:pt x="0" y="104373"/>
                    </a:cubicBezTo>
                    <a:lnTo>
                      <a:pt x="0" y="44312"/>
                    </a:lnTo>
                    <a:cubicBezTo>
                      <a:pt x="0" y="32560"/>
                      <a:pt x="4669" y="21289"/>
                      <a:pt x="12979" y="12979"/>
                    </a:cubicBezTo>
                    <a:cubicBezTo>
                      <a:pt x="21289" y="4669"/>
                      <a:pt x="32560" y="0"/>
                      <a:pt x="44312" y="0"/>
                    </a:cubicBezTo>
                    <a:close/>
                  </a:path>
                </a:pathLst>
              </a:custGeom>
              <a:solidFill>
                <a:srgbClr val="FFC8BD"/>
              </a:solidFill>
              <a:ln w="28575" cap="rnd">
                <a:solidFill>
                  <a:srgbClr val="3B393F"/>
                </a:solidFill>
                <a:prstDash val="solid"/>
                <a:round/>
              </a:ln>
            </p:spPr>
          </p:sp>
          <p:sp>
            <p:nvSpPr>
              <p:cNvPr id="100" name="TextBox 100"/>
              <p:cNvSpPr txBox="1"/>
              <p:nvPr/>
            </p:nvSpPr>
            <p:spPr>
              <a:xfrm>
                <a:off x="0" y="-38100"/>
                <a:ext cx="939199" cy="186785"/>
              </a:xfrm>
              <a:prstGeom prst="rect">
                <a:avLst/>
              </a:prstGeom>
            </p:spPr>
            <p:txBody>
              <a:bodyPr lIns="23052" tIns="23052" rIns="23052" bIns="23052" rtlCol="0" anchor="ctr"/>
              <a:lstStyle/>
              <a:p>
                <a:pPr algn="ctr">
                  <a:lnSpc>
                    <a:spcPts val="2130"/>
                  </a:lnSpc>
                  <a:spcBef>
                    <a:spcPct val="0"/>
                  </a:spcBef>
                </a:pPr>
                <a:endParaRPr sz="817"/>
              </a:p>
            </p:txBody>
          </p:sp>
        </p:grpSp>
        <p:sp>
          <p:nvSpPr>
            <p:cNvPr id="101" name="TextBox 101"/>
            <p:cNvSpPr txBox="1"/>
            <p:nvPr/>
          </p:nvSpPr>
          <p:spPr>
            <a:xfrm>
              <a:off x="1748627" y="389391"/>
              <a:ext cx="3292281" cy="2805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94"/>
                </a:lnSpc>
              </a:pPr>
              <a:r>
                <a:rPr lang="en-US" sz="635" b="1">
                  <a:solidFill>
                    <a:srgbClr val="3B393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PARTENAIRES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627427" y="1470942"/>
              <a:ext cx="6136546" cy="883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137166" lvl="1" indent="-68583">
                <a:lnSpc>
                  <a:spcPts val="794"/>
                </a:lnSpc>
                <a:buFont typeface="Arial"/>
                <a:buChar char="•"/>
              </a:pPr>
              <a:r>
                <a:rPr lang="en-US" sz="635" dirty="0">
                  <a:solidFill>
                    <a:srgbClr val="3B393F"/>
                  </a:solidFill>
                  <a:latin typeface="Garet"/>
                  <a:ea typeface="Garet"/>
                  <a:cs typeface="Garet"/>
                  <a:sym typeface="Garet"/>
                </a:rPr>
                <a:t>UM6P/MSN : R&amp;D et validation technique</a:t>
              </a:r>
            </a:p>
            <a:p>
              <a:pPr marL="137166" lvl="1" indent="-68583">
                <a:lnSpc>
                  <a:spcPts val="794"/>
                </a:lnSpc>
                <a:buFont typeface="Arial"/>
                <a:buChar char="•"/>
              </a:pPr>
              <a:r>
                <a:rPr lang="en-US" sz="635">
                  <a:solidFill>
                    <a:srgbClr val="3B393F"/>
                  </a:solidFill>
                  <a:latin typeface="Garet"/>
                  <a:ea typeface="Garet"/>
                  <a:cs typeface="Garet"/>
                  <a:sym typeface="Garet"/>
                </a:rPr>
                <a:t>UM6P Entrepreneurship and venturing </a:t>
              </a:r>
            </a:p>
            <a:p>
              <a:pPr>
                <a:lnSpc>
                  <a:spcPts val="794"/>
                </a:lnSpc>
              </a:pPr>
              <a:endParaRPr lang="en-US" sz="635" dirty="0">
                <a:solidFill>
                  <a:srgbClr val="3B393F"/>
                </a:solidFill>
                <a:latin typeface="Garet"/>
                <a:ea typeface="Garet"/>
                <a:cs typeface="Garet"/>
                <a:sym typeface="Garet"/>
              </a:endParaRPr>
            </a:p>
          </p:txBody>
        </p:sp>
      </p:grpSp>
      <p:sp>
        <p:nvSpPr>
          <p:cNvPr id="108" name="TextBox 108"/>
          <p:cNvSpPr txBox="1"/>
          <p:nvPr/>
        </p:nvSpPr>
        <p:spPr>
          <a:xfrm>
            <a:off x="1469501" y="4049622"/>
            <a:ext cx="1785694" cy="9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4"/>
              </a:lnSpc>
            </a:pPr>
            <a:r>
              <a:rPr lang="en-US" sz="635" b="1" dirty="0">
                <a:solidFill>
                  <a:srgbClr val="3B393F"/>
                </a:solidFill>
                <a:latin typeface="Garet Bold"/>
                <a:ea typeface="Garet Bold"/>
                <a:cs typeface="Garet Bold"/>
                <a:sym typeface="Garet Bold"/>
              </a:rPr>
              <a:t>METHODOLOGIE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9225549" y="4491821"/>
            <a:ext cx="1120482" cy="9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4"/>
              </a:lnSpc>
            </a:pPr>
            <a:r>
              <a:rPr lang="en-US" sz="635" b="1" dirty="0">
                <a:solidFill>
                  <a:srgbClr val="3B393F"/>
                </a:solidFill>
                <a:latin typeface="Garet Bold"/>
                <a:ea typeface="Garet Bold"/>
                <a:cs typeface="Garet Bold"/>
                <a:sym typeface="Garet Bold"/>
              </a:rPr>
              <a:t>PERSPECTIVES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9577726" y="4982491"/>
            <a:ext cx="1320863" cy="44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1"/>
              </a:lnSpc>
              <a:spcBef>
                <a:spcPct val="0"/>
              </a:spcBef>
            </a:pPr>
            <a:r>
              <a:rPr lang="en-US" sz="547" b="1" dirty="0">
                <a:solidFill>
                  <a:srgbClr val="000000"/>
                </a:solidFill>
                <a:latin typeface="Century Schoolbook" panose="02040604050505020304" pitchFamily="18" charset="0"/>
                <a:ea typeface="Garet Bold"/>
                <a:cs typeface="Garet Bold"/>
                <a:sym typeface="Garet Bold"/>
              </a:rPr>
              <a:t>Constitution </a:t>
            </a:r>
            <a:r>
              <a:rPr lang="en-US" sz="547" b="1" dirty="0" err="1">
                <a:solidFill>
                  <a:srgbClr val="000000"/>
                </a:solidFill>
                <a:latin typeface="Century Schoolbook" panose="02040604050505020304" pitchFamily="18" charset="0"/>
                <a:ea typeface="Garet Bold"/>
                <a:cs typeface="Garet Bold"/>
                <a:sym typeface="Garet Bold"/>
              </a:rPr>
              <a:t>essentielle</a:t>
            </a:r>
            <a:r>
              <a:rPr lang="en-US" sz="547" dirty="0">
                <a:solidFill>
                  <a:srgbClr val="000000"/>
                </a:solidFill>
                <a:latin typeface="Century Schoolbook" panose="02040604050505020304" pitchFamily="18" charset="0"/>
                <a:ea typeface="Garet"/>
                <a:cs typeface="Garet"/>
                <a:sym typeface="Garet"/>
              </a:rPr>
              <a:t> :</a:t>
            </a:r>
          </a:p>
          <a:p>
            <a:pPr marL="118166" lvl="1" indent="-59083" algn="ctr">
              <a:lnSpc>
                <a:spcPts val="711"/>
              </a:lnSpc>
              <a:buFont typeface="Arial"/>
              <a:buChar char="•"/>
            </a:pPr>
            <a:r>
              <a:rPr lang="en-US" sz="547" dirty="0" err="1">
                <a:solidFill>
                  <a:srgbClr val="000000"/>
                </a:solidFill>
                <a:latin typeface="Century Schoolbook" panose="02040604050505020304" pitchFamily="18" charset="0"/>
                <a:ea typeface="Garet"/>
                <a:cs typeface="Garet"/>
                <a:sym typeface="Garet"/>
              </a:rPr>
              <a:t>Substrat</a:t>
            </a:r>
            <a:r>
              <a:rPr lang="en-US" sz="547" dirty="0">
                <a:solidFill>
                  <a:srgbClr val="000000"/>
                </a:solidFill>
                <a:latin typeface="Century Schoolbook" panose="02040604050505020304" pitchFamily="18" charset="0"/>
                <a:ea typeface="Garet"/>
                <a:cs typeface="Garet"/>
                <a:sym typeface="Garet"/>
              </a:rPr>
              <a:t> </a:t>
            </a:r>
            <a:r>
              <a:rPr lang="en-US" sz="547" dirty="0" err="1">
                <a:solidFill>
                  <a:srgbClr val="000000"/>
                </a:solidFill>
                <a:latin typeface="Century Schoolbook" panose="02040604050505020304" pitchFamily="18" charset="0"/>
                <a:ea typeface="Garet"/>
                <a:cs typeface="Garet"/>
                <a:sym typeface="Garet"/>
              </a:rPr>
              <a:t>en</a:t>
            </a:r>
            <a:r>
              <a:rPr lang="en-US" sz="547" dirty="0">
                <a:solidFill>
                  <a:srgbClr val="000000"/>
                </a:solidFill>
                <a:latin typeface="Century Schoolbook" panose="02040604050505020304" pitchFamily="18" charset="0"/>
                <a:ea typeface="Garet"/>
                <a:cs typeface="Garet"/>
                <a:sym typeface="Garet"/>
              </a:rPr>
              <a:t> </a:t>
            </a:r>
            <a:r>
              <a:rPr lang="en-US" sz="547" dirty="0" err="1">
                <a:solidFill>
                  <a:srgbClr val="000000"/>
                </a:solidFill>
                <a:latin typeface="Century Schoolbook" panose="02040604050505020304" pitchFamily="18" charset="0"/>
                <a:ea typeface="Garet"/>
                <a:cs typeface="Garet"/>
                <a:sym typeface="Garet"/>
              </a:rPr>
              <a:t>céramique</a:t>
            </a:r>
            <a:r>
              <a:rPr lang="en-US" sz="547" dirty="0">
                <a:solidFill>
                  <a:srgbClr val="000000"/>
                </a:solidFill>
                <a:latin typeface="Century Schoolbook" panose="02040604050505020304" pitchFamily="18" charset="0"/>
                <a:ea typeface="Garet"/>
                <a:cs typeface="Garet"/>
                <a:sym typeface="Garet"/>
              </a:rPr>
              <a:t> pour </a:t>
            </a:r>
            <a:r>
              <a:rPr lang="en-US" sz="547" dirty="0" err="1">
                <a:solidFill>
                  <a:srgbClr val="000000"/>
                </a:solidFill>
                <a:latin typeface="Century Schoolbook" panose="02040604050505020304" pitchFamily="18" charset="0"/>
                <a:ea typeface="Garet"/>
                <a:cs typeface="Garet"/>
                <a:sym typeface="Garet"/>
              </a:rPr>
              <a:t>sa</a:t>
            </a:r>
            <a:r>
              <a:rPr lang="en-US" sz="547" dirty="0">
                <a:solidFill>
                  <a:srgbClr val="000000"/>
                </a:solidFill>
                <a:latin typeface="Century Schoolbook" panose="02040604050505020304" pitchFamily="18" charset="0"/>
                <a:ea typeface="Garet"/>
                <a:cs typeface="Garet"/>
                <a:sym typeface="Garet"/>
              </a:rPr>
              <a:t> forte </a:t>
            </a:r>
            <a:r>
              <a:rPr lang="en-US" sz="547" dirty="0" err="1">
                <a:solidFill>
                  <a:srgbClr val="000000"/>
                </a:solidFill>
                <a:latin typeface="Century Schoolbook" panose="02040604050505020304" pitchFamily="18" charset="0"/>
                <a:ea typeface="Garet"/>
                <a:cs typeface="Garet"/>
                <a:sym typeface="Garet"/>
              </a:rPr>
              <a:t>résistance</a:t>
            </a:r>
            <a:r>
              <a:rPr lang="en-US" sz="547" dirty="0">
                <a:solidFill>
                  <a:srgbClr val="000000"/>
                </a:solidFill>
                <a:latin typeface="Century Schoolbook" panose="02040604050505020304" pitchFamily="18" charset="0"/>
                <a:ea typeface="Garet"/>
                <a:cs typeface="Garet"/>
                <a:sym typeface="Garet"/>
              </a:rPr>
              <a:t> à des </a:t>
            </a:r>
            <a:r>
              <a:rPr lang="en-US" sz="547" dirty="0" err="1">
                <a:solidFill>
                  <a:srgbClr val="000000"/>
                </a:solidFill>
                <a:latin typeface="Century Schoolbook" panose="02040604050505020304" pitchFamily="18" charset="0"/>
                <a:ea typeface="Garet"/>
                <a:cs typeface="Garet"/>
                <a:sym typeface="Garet"/>
              </a:rPr>
              <a:t>températures</a:t>
            </a:r>
            <a:r>
              <a:rPr lang="en-US" sz="547" dirty="0">
                <a:solidFill>
                  <a:srgbClr val="000000"/>
                </a:solidFill>
                <a:latin typeface="Century Schoolbook" panose="02040604050505020304" pitchFamily="18" charset="0"/>
                <a:ea typeface="Garet"/>
                <a:cs typeface="Garet"/>
                <a:sym typeface="Garet"/>
              </a:rPr>
              <a:t> </a:t>
            </a:r>
            <a:r>
              <a:rPr lang="en-US" sz="547" dirty="0" err="1">
                <a:solidFill>
                  <a:srgbClr val="000000"/>
                </a:solidFill>
                <a:latin typeface="Century Schoolbook" panose="02040604050505020304" pitchFamily="18" charset="0"/>
                <a:ea typeface="Garet"/>
                <a:cs typeface="Garet"/>
                <a:sym typeface="Garet"/>
              </a:rPr>
              <a:t>élevées</a:t>
            </a:r>
            <a:r>
              <a:rPr lang="en-US" sz="547" dirty="0">
                <a:solidFill>
                  <a:srgbClr val="000000"/>
                </a:solidFill>
                <a:latin typeface="Century Schoolbook" panose="02040604050505020304" pitchFamily="18" charset="0"/>
                <a:ea typeface="Garet"/>
                <a:cs typeface="Garet"/>
                <a:sym typeface="Garet"/>
              </a:rPr>
              <a:t>.</a:t>
            </a:r>
          </a:p>
          <a:p>
            <a:pPr algn="ctr">
              <a:lnSpc>
                <a:spcPts val="711"/>
              </a:lnSpc>
            </a:pPr>
            <a:endParaRPr lang="en-US" sz="547" dirty="0">
              <a:solidFill>
                <a:srgbClr val="000000"/>
              </a:solidFill>
              <a:latin typeface="Century Schoolbook" panose="02040604050505020304" pitchFamily="18" charset="0"/>
              <a:ea typeface="Garet"/>
              <a:cs typeface="Garet"/>
              <a:sym typeface="Garet"/>
            </a:endParaRPr>
          </a:p>
        </p:txBody>
      </p:sp>
      <p:sp>
        <p:nvSpPr>
          <p:cNvPr id="112" name="TextBox 112"/>
          <p:cNvSpPr txBox="1"/>
          <p:nvPr/>
        </p:nvSpPr>
        <p:spPr>
          <a:xfrm>
            <a:off x="8596565" y="5714534"/>
            <a:ext cx="1356814" cy="172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7571" lvl="1" indent="-58785" algn="ctr">
              <a:lnSpc>
                <a:spcPts val="708"/>
              </a:lnSpc>
              <a:buFont typeface="Arial"/>
              <a:buChar char="•"/>
            </a:pPr>
            <a:r>
              <a:rPr lang="en-US" sz="545" dirty="0">
                <a:solidFill>
                  <a:srgbClr val="000000"/>
                </a:solidFill>
                <a:latin typeface="Century Schoolbook" panose="02040604050505020304" pitchFamily="18" charset="0"/>
                <a:ea typeface="Garet"/>
                <a:cs typeface="Garet"/>
                <a:sym typeface="Garet"/>
              </a:rPr>
              <a:t> </a:t>
            </a:r>
            <a:r>
              <a:rPr lang="en-US" sz="545" dirty="0" err="1">
                <a:solidFill>
                  <a:srgbClr val="000000"/>
                </a:solidFill>
                <a:latin typeface="Century Schoolbook" panose="02040604050505020304" pitchFamily="18" charset="0"/>
                <a:ea typeface="Garet"/>
                <a:cs typeface="Garet"/>
                <a:sym typeface="Garet"/>
              </a:rPr>
              <a:t>Imbibassions</a:t>
            </a:r>
            <a:r>
              <a:rPr lang="en-US" sz="545" dirty="0">
                <a:solidFill>
                  <a:srgbClr val="000000"/>
                </a:solidFill>
                <a:latin typeface="Century Schoolbook" panose="02040604050505020304" pitchFamily="18" charset="0"/>
                <a:ea typeface="Garet"/>
                <a:cs typeface="Garet"/>
                <a:sym typeface="Garet"/>
              </a:rPr>
              <a:t> ou insertion de ZIF-8 </a:t>
            </a:r>
          </a:p>
          <a:p>
            <a:pPr algn="ctr">
              <a:lnSpc>
                <a:spcPts val="708"/>
              </a:lnSpc>
            </a:pPr>
            <a:r>
              <a:rPr lang="en-US" sz="545" dirty="0">
                <a:solidFill>
                  <a:srgbClr val="000000"/>
                </a:solidFill>
                <a:latin typeface="Century Schoolbook" panose="02040604050505020304" pitchFamily="18" charset="0"/>
                <a:ea typeface="Garet"/>
                <a:cs typeface="Garet"/>
                <a:sym typeface="Garet"/>
              </a:rPr>
              <a:t>(</a:t>
            </a:r>
            <a:r>
              <a:rPr lang="en-US" sz="545" dirty="0" err="1">
                <a:solidFill>
                  <a:srgbClr val="000000"/>
                </a:solidFill>
                <a:latin typeface="Century Schoolbook" panose="02040604050505020304" pitchFamily="18" charset="0"/>
                <a:ea typeface="Garet"/>
                <a:cs typeface="Garet"/>
                <a:sym typeface="Garet"/>
              </a:rPr>
              <a:t>Résultats</a:t>
            </a:r>
            <a:r>
              <a:rPr lang="en-US" sz="545" dirty="0">
                <a:solidFill>
                  <a:srgbClr val="000000"/>
                </a:solidFill>
                <a:latin typeface="Century Schoolbook" panose="02040604050505020304" pitchFamily="18" charset="0"/>
                <a:ea typeface="Garet"/>
                <a:cs typeface="Garet"/>
                <a:sym typeface="Garet"/>
              </a:rPr>
              <a:t> des tests )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295482" y="5393075"/>
            <a:ext cx="495188" cy="52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"/>
              </a:lnSpc>
              <a:spcBef>
                <a:spcPct val="0"/>
              </a:spcBef>
            </a:pPr>
            <a:r>
              <a:rPr lang="en-US" sz="400" b="1" dirty="0" err="1">
                <a:solidFill>
                  <a:srgbClr val="D31E05"/>
                </a:solidFill>
                <a:latin typeface="Garet Bold"/>
                <a:ea typeface="Garet Bold"/>
                <a:cs typeface="Garet Bold"/>
                <a:sym typeface="Garet Bold"/>
              </a:rPr>
              <a:t>Réaction</a:t>
            </a:r>
            <a:r>
              <a:rPr lang="en-US" sz="400" b="1" dirty="0">
                <a:solidFill>
                  <a:srgbClr val="D31E05"/>
                </a:solidFill>
                <a:latin typeface="Garet Bold"/>
                <a:ea typeface="Garet Bold"/>
                <a:cs typeface="Garet Bold"/>
                <a:sym typeface="Garet Bold"/>
              </a:rPr>
              <a:t> de dissolution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2214834" y="5827687"/>
            <a:ext cx="495188" cy="4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"/>
              </a:lnSpc>
              <a:spcBef>
                <a:spcPct val="0"/>
              </a:spcBef>
            </a:pPr>
            <a:r>
              <a:rPr lang="en-US" sz="317" b="1" dirty="0" err="1">
                <a:solidFill>
                  <a:srgbClr val="F5EC20"/>
                </a:solidFill>
                <a:latin typeface="Garet Bold"/>
                <a:ea typeface="Garet Bold"/>
                <a:cs typeface="Garet Bold"/>
                <a:sym typeface="Garet Bold"/>
              </a:rPr>
              <a:t>Réaction</a:t>
            </a:r>
            <a:r>
              <a:rPr lang="en-US" sz="317" b="1" dirty="0">
                <a:solidFill>
                  <a:srgbClr val="F5EC20"/>
                </a:solidFill>
                <a:latin typeface="Garet Bold"/>
                <a:ea typeface="Garet Bold"/>
                <a:cs typeface="Garet Bold"/>
                <a:sym typeface="Garet Bold"/>
              </a:rPr>
              <a:t> de dissolution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898185" y="5465170"/>
            <a:ext cx="2317695" cy="201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"/>
              </a:lnSpc>
              <a:spcBef>
                <a:spcPct val="0"/>
              </a:spcBef>
            </a:pPr>
            <a:r>
              <a:rPr lang="en-US" sz="317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PVP (</a:t>
            </a:r>
            <a:r>
              <a:rPr lang="en-US" sz="4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Polyvinylpyrrolidone</a:t>
            </a:r>
            <a:r>
              <a:rPr lang="en-US" sz="317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)+     Zn2+    + </a:t>
            </a:r>
            <a:r>
              <a:rPr lang="en-US" sz="317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Méthanol</a:t>
            </a:r>
            <a:endParaRPr lang="en-US" sz="317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413"/>
              </a:lnSpc>
              <a:spcBef>
                <a:spcPct val="0"/>
              </a:spcBef>
            </a:pPr>
            <a:r>
              <a:rPr lang="en-US" sz="317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                                                                +</a:t>
            </a:r>
          </a:p>
          <a:p>
            <a:pPr algn="ctr">
              <a:lnSpc>
                <a:spcPts val="413"/>
              </a:lnSpc>
              <a:spcBef>
                <a:spcPct val="0"/>
              </a:spcBef>
            </a:pPr>
            <a:r>
              <a:rPr lang="en-US" sz="317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                                                               2-Diméthylimidazole</a:t>
            </a:r>
          </a:p>
          <a:p>
            <a:pPr algn="ctr">
              <a:lnSpc>
                <a:spcPts val="413"/>
              </a:lnSpc>
              <a:spcBef>
                <a:spcPct val="0"/>
              </a:spcBef>
            </a:pPr>
            <a:endParaRPr lang="en-US" sz="317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16" name="AutoShape 116"/>
          <p:cNvSpPr/>
          <p:nvPr/>
        </p:nvSpPr>
        <p:spPr>
          <a:xfrm flipH="1" flipV="1">
            <a:off x="1700448" y="5968568"/>
            <a:ext cx="379492" cy="7278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7" name="Rectangle : coins arrondis 116">
            <a:extLst>
              <a:ext uri="{FF2B5EF4-FFF2-40B4-BE49-F238E27FC236}">
                <a16:creationId xmlns:a16="http://schemas.microsoft.com/office/drawing/2014/main" id="{418367C5-1F88-47F7-A5AC-B0AB50146225}"/>
              </a:ext>
            </a:extLst>
          </p:cNvPr>
          <p:cNvSpPr/>
          <p:nvPr/>
        </p:nvSpPr>
        <p:spPr>
          <a:xfrm>
            <a:off x="1785150" y="67437"/>
            <a:ext cx="7649808" cy="457083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I" sz="2800" b="1" dirty="0">
                <a:solidFill>
                  <a:schemeClr val="tx1"/>
                </a:solidFill>
                <a:latin typeface="Century Schoolbook" panose="02040604050505020304" pitchFamily="18" charset="0"/>
              </a:rPr>
              <a:t>RETOUR SUR LES FAITS  </a:t>
            </a:r>
            <a:endParaRPr lang="fr-FR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2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2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2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2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2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2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2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2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2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2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2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25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25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2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2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2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2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2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2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25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25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2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2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2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25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25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2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25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25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2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25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25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74" grpId="0"/>
      <p:bldP spid="75" grpId="0"/>
      <p:bldP spid="76" grpId="0"/>
      <p:bldP spid="108" grpId="0"/>
      <p:bldP spid="110" grpId="0"/>
      <p:bldP spid="111" grpId="0"/>
      <p:bldP spid="112" grpId="0"/>
      <p:bldP spid="113" grpId="0"/>
      <p:bldP spid="114" grpId="0"/>
      <p:bldP spid="1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7">
            <a:extLst>
              <a:ext uri="{FF2B5EF4-FFF2-40B4-BE49-F238E27FC236}">
                <a16:creationId xmlns:a16="http://schemas.microsoft.com/office/drawing/2014/main" id="{10D1B40E-6F7E-435E-B212-AC448748E849}"/>
              </a:ext>
            </a:extLst>
          </p:cNvPr>
          <p:cNvSpPr/>
          <p:nvPr/>
        </p:nvSpPr>
        <p:spPr>
          <a:xfrm>
            <a:off x="3274958" y="2663992"/>
            <a:ext cx="2432482" cy="1972406"/>
          </a:xfrm>
          <a:custGeom>
            <a:avLst/>
            <a:gdLst/>
            <a:ahLst/>
            <a:cxnLst/>
            <a:rect l="l" t="t" r="r" b="b"/>
            <a:pathLst>
              <a:path w="2751675" h="2388594">
                <a:moveTo>
                  <a:pt x="0" y="0"/>
                </a:moveTo>
                <a:lnTo>
                  <a:pt x="2751675" y="0"/>
                </a:lnTo>
                <a:lnTo>
                  <a:pt x="2751675" y="2388594"/>
                </a:lnTo>
                <a:lnTo>
                  <a:pt x="0" y="23885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03101"/>
            </a:stretch>
          </a:blipFill>
        </p:spPr>
        <p:txBody>
          <a:bodyPr/>
          <a:lstStyle/>
          <a:p>
            <a:endParaRPr lang="fr-FR" dirty="0"/>
          </a:p>
        </p:txBody>
      </p:sp>
      <p:sp>
        <p:nvSpPr>
          <p:cNvPr id="8" name="Freeform 56">
            <a:extLst>
              <a:ext uri="{FF2B5EF4-FFF2-40B4-BE49-F238E27FC236}">
                <a16:creationId xmlns:a16="http://schemas.microsoft.com/office/drawing/2014/main" id="{E51E2268-28B0-4B60-9F3D-66EC39C72124}"/>
              </a:ext>
            </a:extLst>
          </p:cNvPr>
          <p:cNvSpPr/>
          <p:nvPr/>
        </p:nvSpPr>
        <p:spPr>
          <a:xfrm>
            <a:off x="5707440" y="2672555"/>
            <a:ext cx="2786718" cy="1994528"/>
          </a:xfrm>
          <a:custGeom>
            <a:avLst/>
            <a:gdLst/>
            <a:ahLst/>
            <a:cxnLst/>
            <a:rect l="l" t="t" r="r" b="b"/>
            <a:pathLst>
              <a:path w="3475971" h="2420278">
                <a:moveTo>
                  <a:pt x="0" y="0"/>
                </a:moveTo>
                <a:lnTo>
                  <a:pt x="3475971" y="0"/>
                </a:lnTo>
                <a:lnTo>
                  <a:pt x="3475971" y="2420278"/>
                </a:lnTo>
                <a:lnTo>
                  <a:pt x="0" y="24202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215" b="-101999"/>
            </a:stretch>
          </a:blipFill>
        </p:spPr>
      </p:sp>
      <p:sp>
        <p:nvSpPr>
          <p:cNvPr id="9" name="TextBox 109">
            <a:extLst>
              <a:ext uri="{FF2B5EF4-FFF2-40B4-BE49-F238E27FC236}">
                <a16:creationId xmlns:a16="http://schemas.microsoft.com/office/drawing/2014/main" id="{D9FD3E10-432D-43CA-95F7-F22823C43A80}"/>
              </a:ext>
            </a:extLst>
          </p:cNvPr>
          <p:cNvSpPr txBox="1"/>
          <p:nvPr/>
        </p:nvSpPr>
        <p:spPr>
          <a:xfrm>
            <a:off x="3286862" y="5328165"/>
            <a:ext cx="5261752" cy="492764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8"/>
              </a:lnSpc>
              <a:spcBef>
                <a:spcPct val="0"/>
              </a:spcBef>
            </a:pPr>
            <a:r>
              <a:rPr lang="en-US" sz="2400" b="1" dirty="0">
                <a:latin typeface="Century Schoolbook" panose="02040604050505020304" pitchFamily="18" charset="0"/>
                <a:ea typeface="Garet Bold"/>
                <a:cs typeface="Garet Bold"/>
                <a:sym typeface="Garet Bold"/>
              </a:rPr>
              <a:t>OBJECTIF</a:t>
            </a:r>
            <a:r>
              <a:rPr lang="en-US" sz="2400" dirty="0">
                <a:latin typeface="Century Schoolbook" panose="02040604050505020304" pitchFamily="18" charset="0"/>
                <a:ea typeface="Garet"/>
                <a:cs typeface="Garet"/>
                <a:sym typeface="Garet"/>
              </a:rPr>
              <a:t> </a:t>
            </a:r>
          </a:p>
          <a:p>
            <a:pPr algn="ctr">
              <a:lnSpc>
                <a:spcPts val="708"/>
              </a:lnSpc>
              <a:spcBef>
                <a:spcPct val="0"/>
              </a:spcBef>
            </a:pPr>
            <a:r>
              <a:rPr lang="en-US" sz="2400" dirty="0">
                <a:latin typeface="Century Schoolbook" panose="02040604050505020304" pitchFamily="18" charset="0"/>
                <a:ea typeface="Garet"/>
                <a:cs typeface="Garet"/>
                <a:sym typeface="Garet"/>
              </a:rPr>
              <a:t> </a:t>
            </a:r>
          </a:p>
          <a:p>
            <a:pPr algn="ctr">
              <a:lnSpc>
                <a:spcPts val="708"/>
              </a:lnSpc>
              <a:spcBef>
                <a:spcPct val="0"/>
              </a:spcBef>
            </a:pPr>
            <a:endParaRPr lang="en-US" sz="2400" dirty="0">
              <a:latin typeface="Century Schoolbook" panose="02040604050505020304" pitchFamily="18" charset="0"/>
              <a:ea typeface="Garet"/>
              <a:cs typeface="Garet"/>
              <a:sym typeface="Garet"/>
            </a:endParaRPr>
          </a:p>
          <a:p>
            <a:pPr algn="ctr">
              <a:lnSpc>
                <a:spcPts val="708"/>
              </a:lnSpc>
              <a:spcBef>
                <a:spcPct val="0"/>
              </a:spcBef>
            </a:pPr>
            <a:endParaRPr lang="en-US" sz="2400" dirty="0">
              <a:latin typeface="Century Schoolbook" panose="02040604050505020304" pitchFamily="18" charset="0"/>
              <a:ea typeface="Garet"/>
              <a:cs typeface="Garet"/>
              <a:sym typeface="Garet"/>
            </a:endParaRPr>
          </a:p>
          <a:p>
            <a:pPr algn="ctr">
              <a:lnSpc>
                <a:spcPts val="708"/>
              </a:lnSpc>
              <a:spcBef>
                <a:spcPct val="0"/>
              </a:spcBef>
            </a:pPr>
            <a:r>
              <a:rPr lang="fr-FR" sz="2400" dirty="0">
                <a:latin typeface="Century Schoolbook" panose="02040604050505020304" pitchFamily="18" charset="0"/>
                <a:ea typeface="Garet"/>
                <a:cs typeface="Garet"/>
                <a:sym typeface="Garet"/>
              </a:rPr>
              <a:t>Effectuer</a:t>
            </a:r>
            <a:r>
              <a:rPr lang="en-US" sz="2400" dirty="0">
                <a:latin typeface="Century Schoolbook" panose="02040604050505020304" pitchFamily="18" charset="0"/>
                <a:ea typeface="Garet"/>
                <a:cs typeface="Garet"/>
                <a:sym typeface="Garet"/>
              </a:rPr>
              <a:t> </a:t>
            </a:r>
            <a:r>
              <a:rPr lang="fr-FR" sz="2400" dirty="0">
                <a:latin typeface="Century Schoolbook" panose="02040604050505020304" pitchFamily="18" charset="0"/>
                <a:ea typeface="Garet"/>
                <a:cs typeface="Garet"/>
                <a:sym typeface="Garet"/>
              </a:rPr>
              <a:t>l’assemblage</a:t>
            </a:r>
            <a:r>
              <a:rPr lang="en-US" sz="2400" dirty="0">
                <a:latin typeface="Century Schoolbook" panose="02040604050505020304" pitchFamily="18" charset="0"/>
                <a:ea typeface="Garet"/>
                <a:cs typeface="Garet"/>
                <a:sym typeface="Garet"/>
              </a:rPr>
              <a:t> 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1A5BDE52-EF6F-4D4E-9013-85E846FC3A1B}"/>
              </a:ext>
            </a:extLst>
          </p:cNvPr>
          <p:cNvSpPr/>
          <p:nvPr/>
        </p:nvSpPr>
        <p:spPr>
          <a:xfrm>
            <a:off x="309845" y="701338"/>
            <a:ext cx="2707690" cy="1917577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bg1"/>
                </a:solidFill>
              </a:rPr>
              <a:t>Détermination de L’intervalle de rechange du filtre ?</a:t>
            </a:r>
          </a:p>
          <a:p>
            <a:pPr algn="ctr"/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BBAC5BF4-1949-47E7-8B57-DD0E7C10B145}"/>
              </a:ext>
            </a:extLst>
          </p:cNvPr>
          <p:cNvSpPr/>
          <p:nvPr/>
        </p:nvSpPr>
        <p:spPr>
          <a:xfrm>
            <a:off x="417281" y="4697768"/>
            <a:ext cx="2707690" cy="1917577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bg1"/>
                </a:solidFill>
              </a:rPr>
              <a:t>Où effectuer le stockage du CO2 ?</a:t>
            </a:r>
          </a:p>
          <a:p>
            <a:pPr algn="ctr"/>
            <a:endParaRPr lang="fr-FR" sz="1400" dirty="0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C37EFB81-1EB6-4E1B-938B-CEC8E6A68C65}"/>
              </a:ext>
            </a:extLst>
          </p:cNvPr>
          <p:cNvSpPr/>
          <p:nvPr/>
        </p:nvSpPr>
        <p:spPr>
          <a:xfrm>
            <a:off x="8710505" y="4581569"/>
            <a:ext cx="2707690" cy="1917577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bg1"/>
                </a:solidFill>
              </a:rPr>
              <a:t>Comment gérer la saturation du filtre ? </a:t>
            </a:r>
          </a:p>
          <a:p>
            <a:pPr algn="ctr"/>
            <a:endParaRPr lang="fr-FR" sz="1400" dirty="0"/>
          </a:p>
        </p:txBody>
      </p:sp>
      <p:cxnSp>
        <p:nvCxnSpPr>
          <p:cNvPr id="14" name="Connecteur : en arc 13">
            <a:extLst>
              <a:ext uri="{FF2B5EF4-FFF2-40B4-BE49-F238E27FC236}">
                <a16:creationId xmlns:a16="http://schemas.microsoft.com/office/drawing/2014/main" id="{8FACAD72-1885-4EF9-85B0-100F0DB43856}"/>
              </a:ext>
            </a:extLst>
          </p:cNvPr>
          <p:cNvCxnSpPr>
            <a:cxnSpLocks/>
          </p:cNvCxnSpPr>
          <p:nvPr/>
        </p:nvCxnSpPr>
        <p:spPr>
          <a:xfrm>
            <a:off x="8494158" y="3597172"/>
            <a:ext cx="1515736" cy="933635"/>
          </a:xfrm>
          <a:prstGeom prst="curvedConnector2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 : en arc 14">
            <a:extLst>
              <a:ext uri="{FF2B5EF4-FFF2-40B4-BE49-F238E27FC236}">
                <a16:creationId xmlns:a16="http://schemas.microsoft.com/office/drawing/2014/main" id="{9B4FDECF-ECCC-404E-B3B6-B7327E0A9483}"/>
              </a:ext>
            </a:extLst>
          </p:cNvPr>
          <p:cNvCxnSpPr>
            <a:cxnSpLocks/>
          </p:cNvCxnSpPr>
          <p:nvPr/>
        </p:nvCxnSpPr>
        <p:spPr>
          <a:xfrm rot="10800000" flipV="1">
            <a:off x="1663691" y="3764132"/>
            <a:ext cx="1611267" cy="933636"/>
          </a:xfrm>
          <a:prstGeom prst="curvedConnector2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Ellipse 25">
            <a:extLst>
              <a:ext uri="{FF2B5EF4-FFF2-40B4-BE49-F238E27FC236}">
                <a16:creationId xmlns:a16="http://schemas.microsoft.com/office/drawing/2014/main" id="{5A96D723-EC0E-4F34-8D4A-4D72EE0BF817}"/>
              </a:ext>
            </a:extLst>
          </p:cNvPr>
          <p:cNvSpPr/>
          <p:nvPr/>
        </p:nvSpPr>
        <p:spPr>
          <a:xfrm>
            <a:off x="8005028" y="746415"/>
            <a:ext cx="2707690" cy="1917577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bg1"/>
                </a:solidFill>
              </a:rPr>
              <a:t>Le meilleur agencement entre le filtre à particule actuelle et la solution proposée..</a:t>
            </a:r>
          </a:p>
          <a:p>
            <a:pPr algn="ctr"/>
            <a:endParaRPr lang="fr-FR" sz="1400" dirty="0">
              <a:solidFill>
                <a:schemeClr val="bg1"/>
              </a:solidFill>
            </a:endParaRPr>
          </a:p>
        </p:txBody>
      </p:sp>
      <p:cxnSp>
        <p:nvCxnSpPr>
          <p:cNvPr id="28" name="Connecteur : en arc 27">
            <a:extLst>
              <a:ext uri="{FF2B5EF4-FFF2-40B4-BE49-F238E27FC236}">
                <a16:creationId xmlns:a16="http://schemas.microsoft.com/office/drawing/2014/main" id="{D586E55F-2F11-4100-BD0B-F19FB0A2A4A7}"/>
              </a:ext>
            </a:extLst>
          </p:cNvPr>
          <p:cNvCxnSpPr>
            <a:endCxn id="10" idx="4"/>
          </p:cNvCxnSpPr>
          <p:nvPr/>
        </p:nvCxnSpPr>
        <p:spPr>
          <a:xfrm rot="10800000">
            <a:off x="1663690" y="2618915"/>
            <a:ext cx="1623172" cy="1057914"/>
          </a:xfrm>
          <a:prstGeom prst="curvedConnector2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 : en arc 28">
            <a:extLst>
              <a:ext uri="{FF2B5EF4-FFF2-40B4-BE49-F238E27FC236}">
                <a16:creationId xmlns:a16="http://schemas.microsoft.com/office/drawing/2014/main" id="{354E1824-6BF2-45FA-8288-6D510F4BEA25}"/>
              </a:ext>
            </a:extLst>
          </p:cNvPr>
          <p:cNvCxnSpPr>
            <a:cxnSpLocks/>
            <a:endCxn id="26" idx="4"/>
          </p:cNvCxnSpPr>
          <p:nvPr/>
        </p:nvCxnSpPr>
        <p:spPr>
          <a:xfrm flipV="1">
            <a:off x="8424909" y="2663992"/>
            <a:ext cx="933964" cy="871810"/>
          </a:xfrm>
          <a:prstGeom prst="curvedConnector2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56DEF47A-95A9-4F3A-B19E-C329B13C9481}"/>
              </a:ext>
            </a:extLst>
          </p:cNvPr>
          <p:cNvSpPr/>
          <p:nvPr/>
        </p:nvSpPr>
        <p:spPr>
          <a:xfrm>
            <a:off x="1663689" y="111966"/>
            <a:ext cx="7649808" cy="457083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I" sz="2800" b="1" dirty="0">
                <a:solidFill>
                  <a:schemeClr val="tx1"/>
                </a:solidFill>
                <a:latin typeface="Century Schoolbook" panose="02040604050505020304" pitchFamily="18" charset="0"/>
              </a:rPr>
              <a:t>OBJECTIFS 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3965458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15B65A-4EC6-436F-8A7E-D28C4DCCB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0887" y="2728735"/>
            <a:ext cx="6773259" cy="1400530"/>
          </a:xfrm>
        </p:spPr>
        <p:txBody>
          <a:bodyPr/>
          <a:lstStyle/>
          <a:p>
            <a:r>
              <a:rPr lang="fr-FR" b="1" dirty="0">
                <a:latin typeface="Century Schoolbook" panose="02040604050505020304" pitchFamily="18" charset="0"/>
              </a:rPr>
              <a:t>JE VOUS REMERCIE</a:t>
            </a:r>
          </a:p>
        </p:txBody>
      </p:sp>
    </p:spTree>
    <p:extLst>
      <p:ext uri="{BB962C8B-B14F-4D97-AF65-F5344CB8AC3E}">
        <p14:creationId xmlns:p14="http://schemas.microsoft.com/office/powerpoint/2010/main" val="13185497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153</TotalTime>
  <Words>310</Words>
  <Application>Microsoft Office PowerPoint</Application>
  <PresentationFormat>Grand écran</PresentationFormat>
  <Paragraphs>61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3" baseType="lpstr">
      <vt:lpstr>Algerian</vt:lpstr>
      <vt:lpstr>Arial</vt:lpstr>
      <vt:lpstr>Century Gothic</vt:lpstr>
      <vt:lpstr>Century Schoolbook</vt:lpstr>
      <vt:lpstr>Garet</vt:lpstr>
      <vt:lpstr>Garet Bold</vt:lpstr>
      <vt:lpstr>Lucida Handwriting</vt:lpstr>
      <vt:lpstr>Wingdings 3</vt:lpstr>
      <vt:lpstr>Ion</vt:lpstr>
      <vt:lpstr>BARTH-X</vt:lpstr>
      <vt:lpstr>Présentation PowerPoint</vt:lpstr>
      <vt:lpstr>Présentation PowerPoint</vt:lpstr>
      <vt:lpstr>JE VOUS REMERCIE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BARTH-X</dc:title>
  <dc:creator>Armel TOKALO</dc:creator>
  <cp:lastModifiedBy>Armel TOKALO</cp:lastModifiedBy>
  <cp:revision>17</cp:revision>
  <dcterms:created xsi:type="dcterms:W3CDTF">2025-09-08T20:48:11Z</dcterms:created>
  <dcterms:modified xsi:type="dcterms:W3CDTF">2025-09-10T14:53:18Z</dcterms:modified>
</cp:coreProperties>
</file>